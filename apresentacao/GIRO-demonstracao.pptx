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7"/>
  </p:sldIdLst>
  <p:sldSz cx="12192000" cy="6858000"/>
  <p:notesSz cx="6858000" cy="9144000"/>
  <p:defaultTextStyle>
    <a:lvl1pPr>
      <a:defRPr lang="pt-BR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37" Type="http://schemas.openxmlformats.org/officeDocument/2006/relationships/slide" Target="slides/slide26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magem do slid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Anotaçõ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Narração (~30 s): Aqui a gente vê o GIRO funcionando. Primeiro, Maria acompanha quanto entrou, quanto já tem destino e quanto realmente está livre. Ela tem um compromisso de seiscentos reais com João, com 20% das vendas destinados a esse acordo. Quando entra uma venda de cem reais, o sistema aplica as regras: registra oito reais para Pedro, vinte para João e atualiza automaticamente o saldo do compromisso. E, se o ritmo das vendas não for suficiente para o prazo, o GIRO avisa e permite propor uma renegociação.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 GIRO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 b="1">
          <a:latin typeface="+mj-lt"/>
        </a:defRPr>
      </a:lvl1pPr>
    </p:titleStyle>
    <p:bodyStyle>
      <a:lvl1pPr>
        <a:defRPr sz="1600">
          <a:latin typeface="+mn-lt"/>
        </a:defRPr>
      </a:lvl1pPr>
    </p:bodyStyle>
    <p:otherStyle>
      <a:lvl1pPr>
        <a:defRPr sz="1600"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6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rint 3" descr="GIRO — Carteira intelige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2743200" cy="9144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4" name="Texto 4"/>
          <p:cNvSpPr txBox="1"/>
          <p:nvPr/>
        </p:nvSpPr>
        <p:spPr>
          <a:xfrm>
            <a:off x="731520" y="2057400"/>
            <a:ext cx="100584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4200" b="1" dirty="0">
                <a:solidFill>
                  <a:srgbClr val="0F1A33"/>
                </a:solidFill>
                <a:latin typeface="Calibri"/>
                <a:cs typeface="Calibri"/>
              </a:rPr>
              <a:t xml:space="preserve">Receitas programáveis e confiança comercial para pequenos negócios</a:t>
            </a:r>
            <a:endParaRPr lang="pt-BR" sz="1600"/>
          </a:p>
        </p:txBody>
      </p:sp>
      <p:sp>
        <p:nvSpPr>
          <p:cNvPr id="5" name="Texto 5"/>
          <p:cNvSpPr txBox="1"/>
          <p:nvPr/>
        </p:nvSpPr>
        <p:spPr>
          <a:xfrm>
            <a:off x="731520" y="388620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000" dirty="0">
                <a:solidFill>
                  <a:srgbClr val="4D5A6E"/>
                </a:solidFill>
                <a:latin typeface="Calibri"/>
                <a:cs typeface="Calibri"/>
              </a:rPr>
              <a:t xml:space="preserve">Defina as regras uma vez — cada venda já nasce organizada, e cada compromisso cumprido vira histórico verificável.</a:t>
            </a:r>
            <a:endParaRPr lang="pt-BR" sz="1600"/>
          </a:p>
        </p:txBody>
      </p:sp>
      <p:sp>
        <p:nvSpPr>
          <p:cNvPr id="6" name="Texto 6"/>
          <p:cNvSpPr txBox="1"/>
          <p:nvPr/>
        </p:nvSpPr>
        <p:spPr>
          <a:xfrm>
            <a:off x="731520" y="4983480"/>
            <a:ext cx="26060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63D29"/>
                </a:solidFill>
                <a:latin typeface="Calibri"/>
                <a:cs typeface="Calibri"/>
              </a:rPr>
              <a:t xml:space="preserve">Demonstração do protótipo</a:t>
            </a:r>
            <a:endParaRPr lang="pt-BR" sz="1600"/>
          </a:p>
        </p:txBody>
      </p:sp>
      <p:sp>
        <p:nvSpPr>
          <p:cNvPr id="7" name="Texto 7"/>
          <p:cNvSpPr txBox="1"/>
          <p:nvPr/>
        </p:nvSpPr>
        <p:spPr>
          <a:xfrm>
            <a:off x="3520440" y="4983480"/>
            <a:ext cx="26060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63D29"/>
                </a:solidFill>
                <a:latin typeface="Calibri"/>
                <a:cs typeface="Calibri"/>
              </a:rPr>
              <a:t xml:space="preserve">Tudo rodando localmente</a:t>
            </a:r>
            <a:endParaRPr lang="pt-BR" sz="1600"/>
          </a:p>
        </p:txBody>
      </p:sp>
      <p:sp>
        <p:nvSpPr>
          <p:cNvPr id="8" name="Texto 8"/>
          <p:cNvSpPr txBox="1"/>
          <p:nvPr/>
        </p:nvSpPr>
        <p:spPr>
          <a:xfrm>
            <a:off x="6309360" y="4983480"/>
            <a:ext cx="26060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63D29"/>
                </a:solidFill>
                <a:latin typeface="Calibri"/>
                <a:cs typeface="Calibri"/>
              </a:rPr>
              <a:t xml:space="preserve">Dados fictícios</a:t>
            </a:r>
            <a:endParaRPr lang="pt-BR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O PROBLEMA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Vender não significa ter o dinheiro livre</a:t>
            </a:r>
            <a:endParaRPr lang="pt-BR" sz="1600"/>
          </a:p>
        </p:txBody>
      </p:sp>
      <p:sp>
        <p:nvSpPr>
          <p:cNvPr id="5" name="Texto 5"/>
          <p:cNvSpPr txBox="1"/>
          <p:nvPr/>
        </p:nvSpPr>
        <p:spPr>
          <a:xfrm>
            <a:off x="548640" y="1600200"/>
            <a:ext cx="2624328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pt-BR" sz="4400" b="1" dirty="0">
                <a:solidFill>
                  <a:srgbClr val="063D29"/>
                </a:solidFill>
                <a:latin typeface="Calibri"/>
                <a:cs typeface="Calibri"/>
              </a:rPr>
              <a:t xml:space="preserve">61%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400" dirty="0">
                <a:solidFill>
                  <a:srgbClr val="4D5A6E"/>
                </a:solidFill>
                <a:latin typeface="Calibri"/>
                <a:cs typeface="Calibri"/>
              </a:rPr>
              <a:t xml:space="preserve">usam a conta pessoal para pagar a empresa</a:t>
            </a:r>
            <a:endParaRPr lang="pt-BR" sz="1600"/>
          </a:p>
        </p:txBody>
      </p:sp>
      <p:sp>
        <p:nvSpPr>
          <p:cNvPr id="6" name="Texto 6"/>
          <p:cNvSpPr txBox="1"/>
          <p:nvPr/>
        </p:nvSpPr>
        <p:spPr>
          <a:xfrm>
            <a:off x="3355848" y="1600200"/>
            <a:ext cx="2624328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pt-BR" sz="4400" b="1" dirty="0">
                <a:solidFill>
                  <a:srgbClr val="063D29"/>
                </a:solidFill>
                <a:latin typeface="Calibri"/>
                <a:cs typeface="Calibri"/>
              </a:rPr>
              <a:t xml:space="preserve">30%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400" dirty="0">
                <a:solidFill>
                  <a:srgbClr val="4D5A6E"/>
                </a:solidFill>
                <a:latin typeface="Calibri"/>
                <a:cs typeface="Calibri"/>
              </a:rPr>
              <a:t xml:space="preserve">controlam em planilhas</a:t>
            </a:r>
            <a:endParaRPr lang="pt-BR" sz="1600"/>
          </a:p>
        </p:txBody>
      </p:sp>
      <p:sp>
        <p:nvSpPr>
          <p:cNvPr id="7" name="Texto 7"/>
          <p:cNvSpPr txBox="1"/>
          <p:nvPr/>
        </p:nvSpPr>
        <p:spPr>
          <a:xfrm>
            <a:off x="6163056" y="1600200"/>
            <a:ext cx="2624328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pt-BR" sz="4400" b="1" dirty="0">
                <a:solidFill>
                  <a:srgbClr val="063D29"/>
                </a:solidFill>
                <a:latin typeface="Calibri"/>
                <a:cs typeface="Calibri"/>
              </a:rPr>
              <a:t xml:space="preserve">25%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400" dirty="0">
                <a:solidFill>
                  <a:srgbClr val="4D5A6E"/>
                </a:solidFill>
                <a:latin typeface="Calibri"/>
                <a:cs typeface="Calibri"/>
              </a:rPr>
              <a:t xml:space="preserve">ainda anotam em caderno</a:t>
            </a:r>
            <a:endParaRPr lang="pt-BR" sz="1600"/>
          </a:p>
        </p:txBody>
      </p:sp>
      <p:sp>
        <p:nvSpPr>
          <p:cNvPr id="8" name="Texto 8"/>
          <p:cNvSpPr txBox="1"/>
          <p:nvPr/>
        </p:nvSpPr>
        <p:spPr>
          <a:xfrm>
            <a:off x="8970264" y="1600200"/>
            <a:ext cx="2624328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pt-BR" sz="4400" b="1" dirty="0">
                <a:solidFill>
                  <a:srgbClr val="063D29"/>
                </a:solidFill>
                <a:latin typeface="Calibri"/>
                <a:cs typeface="Calibri"/>
              </a:rPr>
              <a:t xml:space="preserve">10%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400" dirty="0">
                <a:solidFill>
                  <a:srgbClr val="4D5A6E"/>
                </a:solidFill>
                <a:latin typeface="Calibri"/>
                <a:cs typeface="Calibri"/>
              </a:rPr>
              <a:t xml:space="preserve">não têm controle algum</a:t>
            </a:r>
            <a:endParaRPr lang="pt-BR" sz="1600"/>
          </a:p>
        </p:txBody>
      </p:sp>
      <p:sp>
        <p:nvSpPr>
          <p:cNvPr id="9" name="Texto 9"/>
          <p:cNvSpPr txBox="1"/>
          <p:nvPr/>
        </p:nvSpPr>
        <p:spPr>
          <a:xfrm>
            <a:off x="548640" y="331012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100" dirty="0">
                <a:solidFill>
                  <a:srgbClr val="7A8799"/>
                </a:solidFill>
                <a:latin typeface="Calibri"/>
                <a:cs typeface="Calibri"/>
              </a:rPr>
              <a:t xml:space="preserve">Fonte: Sebrae, Hábitos Financeiros dos Pequenos Negócios (2026), citado no documento do projeto.</a:t>
            </a:r>
            <a:endParaRPr lang="pt-BR" sz="1600"/>
          </a:p>
        </p:txBody>
      </p:sp>
      <p:sp>
        <p:nvSpPr>
          <p:cNvPr id="10" name="Cartão 10"/>
          <p:cNvSpPr txBox="1"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7000"/>
            </a:avLst>
          </a:prstGeom>
          <a:solidFill>
            <a:srgbClr val="FDE7EA"/>
          </a:solidFill>
          <a:ln w="9525">
            <a:solidFill>
              <a:srgbClr val="F6CFD5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Dinheiro confuso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600" dirty="0">
                <a:solidFill>
                  <a:srgbClr val="4D5A6E"/>
                </a:solidFill>
                <a:latin typeface="Calibri"/>
                <a:cs typeface="Calibri"/>
              </a:rPr>
              <a:t xml:space="preserve">R$ 2.000 na conta, mas parte já é do fornecedor, do ajudante e do próximo estoque.</a:t>
            </a:r>
            <a:endParaRPr lang="pt-BR" sz="1600"/>
          </a:p>
        </p:txBody>
      </p:sp>
      <p:sp>
        <p:nvSpPr>
          <p:cNvPr id="11" name="Cartão 11"/>
          <p:cNvSpPr txBox="1"/>
          <p:nvPr/>
        </p:nvSpPr>
        <p:spPr>
          <a:xfrm>
            <a:off x="6172200" y="3840480"/>
            <a:ext cx="5440680" cy="2194560"/>
          </a:xfrm>
          <a:prstGeom prst="roundRect">
            <a:avLst>
              <a:gd name="adj" fmla="val 7000"/>
            </a:avLst>
          </a:prstGeom>
          <a:solidFill>
            <a:srgbClr val="FFF1D6"/>
          </a:solidFill>
          <a:ln w="9525">
            <a:solidFill>
              <a:srgbClr val="F3DFB2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Confiança que não viaja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600" dirty="0">
                <a:solidFill>
                  <a:srgbClr val="4D5A6E"/>
                </a:solidFill>
                <a:latin typeface="Calibri"/>
                <a:cs typeface="Calibri"/>
              </a:rPr>
              <a:t xml:space="preserve">“Pode vender para ela, ela sempre paga.” — anos de bom histórico que não acompanham o vendedor para um novo fornecedor.</a:t>
            </a:r>
            <a:endParaRPr lang="pt-BR" sz="1600"/>
          </a:p>
        </p:txBody>
      </p:sp>
      <p:sp>
        <p:nvSpPr>
          <p:cNvPr id="12" name="Número 12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2 / 25</a:t>
            </a:r>
            <a:endParaRPr lang="pt-BR" sz="1600"/>
          </a:p>
        </p:txBody>
      </p:sp>
      <p:pic>
        <p:nvPicPr>
          <p:cNvPr id="13" name="Print 13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4" name="Rodapé 14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PROPOSTA DE VALOR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Uma carteira inteligente, não um ERP</a:t>
            </a:r>
            <a:endParaRPr lang="pt-BR" sz="1600"/>
          </a:p>
        </p:txBody>
      </p:sp>
      <p:sp>
        <p:nvSpPr>
          <p:cNvPr id="5" name="Cartão 5"/>
          <p:cNvSpPr txBox="1"/>
          <p:nvPr/>
        </p:nvSpPr>
        <p:spPr>
          <a:xfrm>
            <a:off x="548640" y="1600200"/>
            <a:ext cx="3566160" cy="2331720"/>
          </a:xfrm>
          <a:prstGeom prst="roundRect">
            <a:avLst>
              <a:gd name="adj" fmla="val 7000"/>
            </a:avLst>
          </a:prstGeom>
          <a:solidFill>
            <a:srgbClr val="E6F6EC"/>
          </a:solidFill>
          <a:ln w="9525">
            <a:solidFill>
              <a:srgbClr val="CFE9DA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F1A33"/>
                </a:solidFill>
                <a:latin typeface="Calibri"/>
                <a:cs typeface="Calibri"/>
              </a:rPr>
              <a:t xml:space="preserve">1. Saber quanto está livre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Quanto entrou, quanto já tem destino e quanto realmente é seu — em linguagem simples.</a:t>
            </a:r>
            <a:endParaRPr lang="pt-BR" sz="1500"/>
          </a:p>
        </p:txBody>
      </p:sp>
      <p:sp>
        <p:nvSpPr>
          <p:cNvPr id="6" name="Cartão 6"/>
          <p:cNvSpPr txBox="1"/>
          <p:nvPr/>
        </p:nvSpPr>
        <p:spPr>
          <a:xfrm>
            <a:off x="4297680" y="1600200"/>
            <a:ext cx="3566160" cy="2331720"/>
          </a:xfrm>
          <a:prstGeom prst="roundRect">
            <a:avLst>
              <a:gd name="adj" fmla="val 7000"/>
            </a:avLst>
          </a:prstGeom>
          <a:solidFill>
            <a:srgbClr val="E6EFFC"/>
          </a:solidFill>
          <a:ln w="9525">
            <a:solidFill>
              <a:srgbClr val="CDDCF6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F1A33"/>
                </a:solidFill>
                <a:latin typeface="Calibri"/>
                <a:cs typeface="Calibri"/>
              </a:rPr>
              <a:t xml:space="preserve">2. Acordos que se cumprem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Fornecedor e vendedor aceitam uma regra (ex.: 20% das vendas até quitar R$ 600). Cada venda amortiza sozinha e nunca passa do que falta.</a:t>
            </a:r>
            <a:endParaRPr lang="pt-BR" sz="1500"/>
          </a:p>
        </p:txBody>
      </p:sp>
      <p:sp>
        <p:nvSpPr>
          <p:cNvPr id="7" name="Cartão 7"/>
          <p:cNvSpPr txBox="1"/>
          <p:nvPr/>
        </p:nvSpPr>
        <p:spPr>
          <a:xfrm>
            <a:off x="8046720" y="1600200"/>
            <a:ext cx="3566160" cy="2331720"/>
          </a:xfrm>
          <a:prstGeom prst="roundRect">
            <a:avLst>
              <a:gd name="adj" fmla="val 7000"/>
            </a:avLst>
          </a:prstGeom>
          <a:solidFill>
            <a:srgbClr val="EFE9FC"/>
          </a:solidFill>
          <a:ln w="9525">
            <a:solidFill>
              <a:srgbClr val="DDD1F7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F1A33"/>
                </a:solidFill>
                <a:latin typeface="Calibri"/>
                <a:cs typeface="Calibri"/>
              </a:rPr>
              <a:t xml:space="preserve">3. Confiança verificável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Cada acordo concluído gera um comprovante. O histórico positivo passa a pertencer ao vendedor.</a:t>
            </a:r>
            <a:endParaRPr lang="pt-BR" sz="1500"/>
          </a:p>
        </p:txBody>
      </p:sp>
      <p:sp>
        <p:nvSpPr>
          <p:cNvPr id="8" name="Cartão 8"/>
          <p:cNvSpPr txBox="1"/>
          <p:nvPr/>
        </p:nvSpPr>
        <p:spPr>
          <a:xfrm>
            <a:off x="548640" y="416052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Organizar ≠ Comprometer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Planejamento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é pessoal: editável, pausável.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Compromisso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é bilateral: só muda com aceite da outra parte.</a:t>
            </a:r>
            <a:endParaRPr lang="pt-BR" sz="1500"/>
          </a:p>
        </p:txBody>
      </p:sp>
      <p:sp>
        <p:nvSpPr>
          <p:cNvPr id="9" name="Cartão 9"/>
          <p:cNvSpPr txBox="1"/>
          <p:nvPr/>
        </p:nvSpPr>
        <p:spPr>
          <a:xfrm>
            <a:off x="6172200" y="416052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Sem jargão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O vendedor não vê token, blockchain, PDA ou hash. Vê “Livre para usar”, “Já tem destino” e “Acordos concluídos”.</a:t>
            </a:r>
            <a:endParaRPr lang="pt-BR" sz="1500"/>
          </a:p>
        </p:txBody>
      </p:sp>
      <p:sp>
        <p:nvSpPr>
          <p:cNvPr id="10" name="Número 10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3 / 25</a:t>
            </a:r>
            <a:endParaRPr lang="pt-BR" sz="1600"/>
          </a:p>
        </p:txBody>
      </p:sp>
      <p:pic>
        <p:nvPicPr>
          <p:cNvPr id="11" name="Print 11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2" name="Rodapé 12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COMO FUNCIONA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Receita → regras → distribuição → saldo livre → confiança</a:t>
            </a:r>
            <a:endParaRPr lang="pt-BR" sz="1600"/>
          </a:p>
        </p:txBody>
      </p:sp>
      <p:sp>
        <p:nvSpPr>
          <p:cNvPr id="5" name="Texto 5"/>
          <p:cNvSpPr txBox="1"/>
          <p:nvPr/>
        </p:nvSpPr>
        <p:spPr>
          <a:xfrm>
            <a:off x="548640" y="164592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ctr" marL="0" indent="0">
              <a:spcAft>
                <a:spcPts val="200"/>
              </a:spcAft>
              <a:buNone/>
            </a:pPr>
            <a:r>
              <a:rPr lang="pt-BR" sz="1700" b="1" dirty="0">
                <a:solidFill>
                  <a:srgbClr val="063D29"/>
                </a:solidFill>
                <a:latin typeface="Calibri"/>
                <a:cs typeface="Calibri"/>
              </a:rPr>
              <a:t xml:space="preserve">Venda</a:t>
            </a:r>
            <a:endParaRPr lang="pt-BR" sz="1600"/>
          </a:p>
          <a:p>
            <a:pPr algn="ctr" marL="0" indent="0">
              <a:spcAft>
                <a:spcPts val="400"/>
              </a:spcAft>
              <a:buNone/>
            </a:pPr>
            <a:r>
              <a:rPr lang="pt-BR" sz="1200" dirty="0">
                <a:solidFill>
                  <a:srgbClr val="4D5A6E"/>
                </a:solidFill>
                <a:latin typeface="Calibri"/>
                <a:cs typeface="Calibri"/>
              </a:rPr>
              <a:t xml:space="preserve">dinheiro ou digital</a:t>
            </a:r>
            <a:endParaRPr lang="pt-BR" sz="1600"/>
          </a:p>
        </p:txBody>
      </p:sp>
      <p:sp>
        <p:nvSpPr>
          <p:cNvPr id="6" name="Texto 6"/>
          <p:cNvSpPr txBox="1"/>
          <p:nvPr/>
        </p:nvSpPr>
        <p:spPr>
          <a:xfrm>
            <a:off x="2194560" y="19659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0B7A43"/>
                </a:solidFill>
                <a:latin typeface="Calibri"/>
                <a:cs typeface="Calibri"/>
              </a:rPr>
              <a:t xml:space="preserve">→</a:t>
            </a:r>
            <a:endParaRPr lang="pt-BR" sz="1600"/>
          </a:p>
        </p:txBody>
      </p:sp>
      <p:sp>
        <p:nvSpPr>
          <p:cNvPr id="7" name="Texto 7"/>
          <p:cNvSpPr txBox="1"/>
          <p:nvPr/>
        </p:nvSpPr>
        <p:spPr>
          <a:xfrm>
            <a:off x="2423160" y="164592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ctr" marL="0" indent="0">
              <a:spcAft>
                <a:spcPts val="200"/>
              </a:spcAft>
              <a:buNone/>
            </a:pPr>
            <a:r>
              <a:rPr lang="pt-BR" sz="1700" b="1" dirty="0">
                <a:solidFill>
                  <a:srgbClr val="063D29"/>
                </a:solidFill>
                <a:latin typeface="Calibri"/>
                <a:cs typeface="Calibri"/>
              </a:rPr>
              <a:t xml:space="preserve">Regras</a:t>
            </a:r>
            <a:endParaRPr lang="pt-BR" sz="1600"/>
          </a:p>
          <a:p>
            <a:pPr algn="ctr" marL="0" indent="0">
              <a:spcAft>
                <a:spcPts val="400"/>
              </a:spcAft>
              <a:buNone/>
            </a:pPr>
            <a:r>
              <a:rPr lang="pt-BR" sz="1200" dirty="0">
                <a:solidFill>
                  <a:srgbClr val="4D5A6E"/>
                </a:solidFill>
                <a:latin typeface="Calibri"/>
                <a:cs typeface="Calibri"/>
              </a:rPr>
              <a:t xml:space="preserve">acordos, equipe, metas</a:t>
            </a:r>
            <a:endParaRPr lang="pt-BR" sz="1600"/>
          </a:p>
        </p:txBody>
      </p:sp>
      <p:sp>
        <p:nvSpPr>
          <p:cNvPr id="8" name="Texto 8"/>
          <p:cNvSpPr txBox="1"/>
          <p:nvPr/>
        </p:nvSpPr>
        <p:spPr>
          <a:xfrm>
            <a:off x="4069080" y="19659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0B7A43"/>
                </a:solidFill>
                <a:latin typeface="Calibri"/>
                <a:cs typeface="Calibri"/>
              </a:rPr>
              <a:t xml:space="preserve">→</a:t>
            </a:r>
            <a:endParaRPr lang="pt-BR" sz="1600"/>
          </a:p>
        </p:txBody>
      </p:sp>
      <p:sp>
        <p:nvSpPr>
          <p:cNvPr id="9" name="Texto 9"/>
          <p:cNvSpPr txBox="1"/>
          <p:nvPr/>
        </p:nvSpPr>
        <p:spPr>
          <a:xfrm>
            <a:off x="4297680" y="164592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ctr" marL="0" indent="0">
              <a:spcAft>
                <a:spcPts val="200"/>
              </a:spcAft>
              <a:buNone/>
            </a:pPr>
            <a:r>
              <a:rPr lang="pt-BR" sz="1700" b="1" dirty="0">
                <a:solidFill>
                  <a:srgbClr val="063D29"/>
                </a:solidFill>
                <a:latin typeface="Calibri"/>
                <a:cs typeface="Calibri"/>
              </a:rPr>
              <a:t xml:space="preserve">Distribuição</a:t>
            </a:r>
            <a:endParaRPr lang="pt-BR" sz="1600"/>
          </a:p>
          <a:p>
            <a:pPr algn="ctr" marL="0" indent="0">
              <a:spcAft>
                <a:spcPts val="400"/>
              </a:spcAft>
              <a:buNone/>
            </a:pPr>
            <a:r>
              <a:rPr lang="pt-BR" sz="1200" dirty="0">
                <a:solidFill>
                  <a:srgbClr val="4D5A6E"/>
                </a:solidFill>
                <a:latin typeface="Calibri"/>
                <a:cs typeface="Calibri"/>
              </a:rPr>
              <a:t xml:space="preserve">automática e limitada</a:t>
            </a:r>
            <a:endParaRPr lang="pt-BR" sz="1600"/>
          </a:p>
        </p:txBody>
      </p:sp>
      <p:sp>
        <p:nvSpPr>
          <p:cNvPr id="10" name="Texto 10"/>
          <p:cNvSpPr txBox="1"/>
          <p:nvPr/>
        </p:nvSpPr>
        <p:spPr>
          <a:xfrm>
            <a:off x="5943600" y="19659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0B7A43"/>
                </a:solidFill>
                <a:latin typeface="Calibri"/>
                <a:cs typeface="Calibri"/>
              </a:rPr>
              <a:t xml:space="preserve">→</a:t>
            </a:r>
            <a:endParaRPr lang="pt-BR" sz="1600"/>
          </a:p>
        </p:txBody>
      </p:sp>
      <p:sp>
        <p:nvSpPr>
          <p:cNvPr id="11" name="Texto 11"/>
          <p:cNvSpPr txBox="1"/>
          <p:nvPr/>
        </p:nvSpPr>
        <p:spPr>
          <a:xfrm>
            <a:off x="6172200" y="164592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ctr" marL="0" indent="0">
              <a:spcAft>
                <a:spcPts val="200"/>
              </a:spcAft>
              <a:buNone/>
            </a:pPr>
            <a:r>
              <a:rPr lang="pt-BR" sz="1700" b="1" dirty="0">
                <a:solidFill>
                  <a:srgbClr val="063D29"/>
                </a:solidFill>
                <a:latin typeface="Calibri"/>
                <a:cs typeface="Calibri"/>
              </a:rPr>
              <a:t xml:space="preserve">Obrigações</a:t>
            </a:r>
            <a:endParaRPr lang="pt-BR" sz="1600"/>
          </a:p>
          <a:p>
            <a:pPr algn="ctr" marL="0" indent="0">
              <a:spcAft>
                <a:spcPts val="400"/>
              </a:spcAft>
              <a:buNone/>
            </a:pPr>
            <a:r>
              <a:rPr lang="pt-BR" sz="1200" dirty="0">
                <a:solidFill>
                  <a:srgbClr val="4D5A6E"/>
                </a:solidFill>
                <a:latin typeface="Calibri"/>
                <a:cs typeface="Calibri"/>
              </a:rPr>
              <a:t xml:space="preserve">quanto falta pagar</a:t>
            </a:r>
            <a:endParaRPr lang="pt-BR" sz="1600"/>
          </a:p>
        </p:txBody>
      </p:sp>
      <p:sp>
        <p:nvSpPr>
          <p:cNvPr id="12" name="Texto 12"/>
          <p:cNvSpPr txBox="1"/>
          <p:nvPr/>
        </p:nvSpPr>
        <p:spPr>
          <a:xfrm>
            <a:off x="7818120" y="19659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0B7A43"/>
                </a:solidFill>
                <a:latin typeface="Calibri"/>
                <a:cs typeface="Calibri"/>
              </a:rPr>
              <a:t xml:space="preserve">→</a:t>
            </a:r>
            <a:endParaRPr lang="pt-BR" sz="1600"/>
          </a:p>
        </p:txBody>
      </p:sp>
      <p:sp>
        <p:nvSpPr>
          <p:cNvPr id="13" name="Texto 13"/>
          <p:cNvSpPr txBox="1"/>
          <p:nvPr/>
        </p:nvSpPr>
        <p:spPr>
          <a:xfrm>
            <a:off x="8046720" y="164592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ctr" marL="0" indent="0">
              <a:spcAft>
                <a:spcPts val="200"/>
              </a:spcAft>
              <a:buNone/>
            </a:pPr>
            <a:r>
              <a:rPr lang="pt-BR" sz="1700" b="1" dirty="0">
                <a:solidFill>
                  <a:srgbClr val="063D29"/>
                </a:solidFill>
                <a:latin typeface="Calibri"/>
                <a:cs typeface="Calibri"/>
              </a:rPr>
              <a:t xml:space="preserve">Livre</a:t>
            </a:r>
            <a:endParaRPr lang="pt-BR" sz="1600"/>
          </a:p>
          <a:p>
            <a:pPr algn="ctr" marL="0" indent="0">
              <a:spcAft>
                <a:spcPts val="400"/>
              </a:spcAft>
              <a:buNone/>
            </a:pPr>
            <a:r>
              <a:rPr lang="pt-BR" sz="1200" dirty="0">
                <a:solidFill>
                  <a:srgbClr val="4D5A6E"/>
                </a:solidFill>
                <a:latin typeface="Calibri"/>
                <a:cs typeface="Calibri"/>
              </a:rPr>
              <a:t xml:space="preserve">o que é seu hoje</a:t>
            </a:r>
            <a:endParaRPr lang="pt-BR" sz="1600"/>
          </a:p>
        </p:txBody>
      </p:sp>
      <p:sp>
        <p:nvSpPr>
          <p:cNvPr id="14" name="Texto 14"/>
          <p:cNvSpPr txBox="1"/>
          <p:nvPr/>
        </p:nvSpPr>
        <p:spPr>
          <a:xfrm>
            <a:off x="9692640" y="19659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0B7A43"/>
                </a:solidFill>
                <a:latin typeface="Calibri"/>
                <a:cs typeface="Calibri"/>
              </a:rPr>
              <a:t xml:space="preserve">→</a:t>
            </a:r>
            <a:endParaRPr lang="pt-BR" sz="1600"/>
          </a:p>
        </p:txBody>
      </p:sp>
      <p:sp>
        <p:nvSpPr>
          <p:cNvPr id="15" name="Texto 15"/>
          <p:cNvSpPr txBox="1"/>
          <p:nvPr/>
        </p:nvSpPr>
        <p:spPr>
          <a:xfrm>
            <a:off x="9921240" y="1645920"/>
            <a:ext cx="1645920" cy="105156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ctr" marL="0" indent="0">
              <a:spcAft>
                <a:spcPts val="200"/>
              </a:spcAft>
              <a:buNone/>
            </a:pPr>
            <a:r>
              <a:rPr lang="pt-BR" sz="1700" b="1" dirty="0">
                <a:solidFill>
                  <a:srgbClr val="063D29"/>
                </a:solidFill>
                <a:latin typeface="Calibri"/>
                <a:cs typeface="Calibri"/>
              </a:rPr>
              <a:t xml:space="preserve">Confiança</a:t>
            </a:r>
            <a:endParaRPr lang="pt-BR" sz="1600"/>
          </a:p>
          <a:p>
            <a:pPr algn="ctr" marL="0" indent="0">
              <a:spcAft>
                <a:spcPts val="400"/>
              </a:spcAft>
              <a:buNone/>
            </a:pPr>
            <a:r>
              <a:rPr lang="pt-BR" sz="1200" dirty="0">
                <a:solidFill>
                  <a:srgbClr val="4D5A6E"/>
                </a:solidFill>
                <a:latin typeface="Calibri"/>
                <a:cs typeface="Calibri"/>
              </a:rPr>
              <a:t xml:space="preserve">acordos cumpridos</a:t>
            </a:r>
            <a:endParaRPr lang="pt-BR" sz="1600"/>
          </a:p>
        </p:txBody>
      </p:sp>
      <p:sp>
        <p:nvSpPr>
          <p:cNvPr id="16" name="Texto 16"/>
          <p:cNvSpPr txBox="1"/>
          <p:nvPr/>
        </p:nvSpPr>
        <p:spPr>
          <a:xfrm>
            <a:off x="548640" y="30632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000" b="1" dirty="0">
                <a:solidFill>
                  <a:srgbClr val="0F1A33"/>
                </a:solidFill>
                <a:latin typeface="Calibri"/>
                <a:cs typeface="Calibri"/>
              </a:rPr>
              <a:t xml:space="preserve">Exemplo da demonstração: venda de R$ 100</a:t>
            </a:r>
            <a:endParaRPr lang="pt-BR" sz="1600"/>
          </a:p>
        </p:txBody>
      </p:sp>
      <p:sp>
        <p:nvSpPr>
          <p:cNvPr id="17" name="Parte da venda 17"/>
          <p:cNvSpPr txBox="1"/>
          <p:nvPr/>
        </p:nvSpPr>
        <p:spPr>
          <a:xfrm>
            <a:off x="548640" y="3657600"/>
            <a:ext cx="885139" cy="548640"/>
          </a:xfrm>
          <a:prstGeom prst="rect">
            <a:avLst/>
          </a:prstGeom>
          <a:solidFill>
            <a:srgbClr val="8B6BD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FFFFFF"/>
                </a:solidFill>
                <a:latin typeface="Calibri"/>
                <a:cs typeface="Calibri"/>
              </a:rPr>
              <a:t xml:space="preserve">8</a:t>
            </a:r>
            <a:endParaRPr lang="pt-BR" sz="1600"/>
          </a:p>
        </p:txBody>
      </p:sp>
      <p:sp>
        <p:nvSpPr>
          <p:cNvPr id="18" name="Parte da venda 18"/>
          <p:cNvSpPr txBox="1"/>
          <p:nvPr/>
        </p:nvSpPr>
        <p:spPr>
          <a:xfrm>
            <a:off x="1433779" y="3657600"/>
            <a:ext cx="2212848" cy="548640"/>
          </a:xfrm>
          <a:prstGeom prst="rect">
            <a:avLst/>
          </a:prstGeom>
          <a:solidFill>
            <a:srgbClr val="E06A7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FFFFFF"/>
                </a:solidFill>
                <a:latin typeface="Calibri"/>
                <a:cs typeface="Calibri"/>
              </a:rPr>
              <a:t xml:space="preserve">20</a:t>
            </a:r>
            <a:endParaRPr lang="pt-BR" sz="1600"/>
          </a:p>
        </p:txBody>
      </p:sp>
      <p:sp>
        <p:nvSpPr>
          <p:cNvPr id="19" name="Parte da venda 19"/>
          <p:cNvSpPr txBox="1"/>
          <p:nvPr/>
        </p:nvSpPr>
        <p:spPr>
          <a:xfrm>
            <a:off x="3646627" y="3657600"/>
            <a:ext cx="1106424" cy="548640"/>
          </a:xfrm>
          <a:prstGeom prst="rect">
            <a:avLst/>
          </a:prstGeom>
          <a:solidFill>
            <a:srgbClr val="5FBF8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FFFFFF"/>
                </a:solidFill>
                <a:latin typeface="Calibri"/>
                <a:cs typeface="Calibri"/>
              </a:rPr>
              <a:t xml:space="preserve">10</a:t>
            </a:r>
            <a:endParaRPr lang="pt-BR" sz="1600"/>
          </a:p>
        </p:txBody>
      </p:sp>
      <p:sp>
        <p:nvSpPr>
          <p:cNvPr id="20" name="Parte da venda 20"/>
          <p:cNvSpPr txBox="1"/>
          <p:nvPr/>
        </p:nvSpPr>
        <p:spPr>
          <a:xfrm>
            <a:off x="4753051" y="3657600"/>
            <a:ext cx="6859829" cy="548640"/>
          </a:xfrm>
          <a:prstGeom prst="rect">
            <a:avLst/>
          </a:prstGeom>
          <a:solidFill>
            <a:srgbClr val="0B8A4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FFFFFF"/>
                </a:solidFill>
                <a:latin typeface="Calibri"/>
                <a:cs typeface="Calibri"/>
              </a:rPr>
              <a:t xml:space="preserve">R$ 62 livres</a:t>
            </a:r>
            <a:endParaRPr lang="pt-BR" sz="1600"/>
          </a:p>
        </p:txBody>
      </p:sp>
      <p:sp>
        <p:nvSpPr>
          <p:cNvPr id="21" name="Texto 21"/>
          <p:cNvSpPr txBox="1"/>
          <p:nvPr/>
        </p:nvSpPr>
        <p:spPr>
          <a:xfrm>
            <a:off x="548640" y="443484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8B6BD6"/>
                </a:solidFill>
                <a:latin typeface="Calibri"/>
                <a:cs typeface="Calibri"/>
              </a:rPr>
              <a:t xml:space="preserve">● Pedro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8% — comissão do turno ativo</a:t>
            </a:r>
            <a:endParaRPr lang="pt-BR" sz="1500"/>
          </a:p>
        </p:txBody>
      </p:sp>
      <p:sp>
        <p:nvSpPr>
          <p:cNvPr id="22" name="Texto 22"/>
          <p:cNvSpPr txBox="1"/>
          <p:nvPr/>
        </p:nvSpPr>
        <p:spPr>
          <a:xfrm>
            <a:off x="3355848" y="443484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E06A74"/>
                </a:solidFill>
                <a:latin typeface="Calibri"/>
                <a:cs typeface="Calibri"/>
              </a:rPr>
              <a:t xml:space="preserve">● João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20% — acordo aceito, até quitar</a:t>
            </a:r>
            <a:endParaRPr lang="pt-BR" sz="1500"/>
          </a:p>
        </p:txBody>
      </p:sp>
      <p:sp>
        <p:nvSpPr>
          <p:cNvPr id="23" name="Texto 23"/>
          <p:cNvSpPr txBox="1"/>
          <p:nvPr/>
        </p:nvSpPr>
        <p:spPr>
          <a:xfrm>
            <a:off x="6163056" y="443484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2F9E6A"/>
                </a:solidFill>
                <a:latin typeface="Calibri"/>
                <a:cs typeface="Calibri"/>
              </a:rPr>
              <a:t xml:space="preserve">● Estoque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10% — reserva automática</a:t>
            </a:r>
            <a:endParaRPr lang="pt-BR" sz="1500"/>
          </a:p>
        </p:txBody>
      </p:sp>
      <p:sp>
        <p:nvSpPr>
          <p:cNvPr id="24" name="Texto 24"/>
          <p:cNvSpPr txBox="1"/>
          <p:nvPr/>
        </p:nvSpPr>
        <p:spPr>
          <a:xfrm>
            <a:off x="8970264" y="443484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B8A46"/>
                </a:solidFill>
                <a:latin typeface="Calibri"/>
                <a:cs typeface="Calibri"/>
              </a:rPr>
              <a:t xml:space="preserve">● Maria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o restante é livre</a:t>
            </a:r>
            <a:endParaRPr lang="pt-BR" sz="1500"/>
          </a:p>
        </p:txBody>
      </p:sp>
      <p:sp>
        <p:nvSpPr>
          <p:cNvPr id="25" name="Texto 25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600" i="1" dirty="0">
                <a:solidFill>
                  <a:srgbClr val="4D5A6E"/>
                </a:solidFill>
                <a:latin typeface="Calibri"/>
                <a:cs typeface="Calibri"/>
              </a:rPr>
              <a:t xml:space="preserve">Um acordo nunca recebe mais do que falta: quando a dívida é quitada, a parte dele volta a ser livre.</a:t>
            </a:r>
            <a:endParaRPr lang="pt-BR" sz="1600"/>
          </a:p>
        </p:txBody>
      </p:sp>
      <p:sp>
        <p:nvSpPr>
          <p:cNvPr id="26" name="Número 26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4 / 25</a:t>
            </a:r>
            <a:endParaRPr lang="pt-BR" sz="1600"/>
          </a:p>
        </p:txBody>
      </p:sp>
      <p:pic>
        <p:nvPicPr>
          <p:cNvPr id="27" name="Print 27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28" name="Rodapé 28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MAPA DO SITE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Sete áreas, uma ideia cada</a:t>
            </a:r>
            <a:endParaRPr lang="pt-BR" sz="1600"/>
          </a:p>
        </p:txBody>
      </p:sp>
      <p:graphicFrame>
        <p:nvGraphicFramePr>
          <p:cNvPr id="5" name="Tabela 5"/>
          <p:cNvGraphicFramePr>
            <a:graphicFrameLocks noGrp="1"/>
          </p:cNvGraphicFramePr>
          <p:nvPr/>
        </p:nvGraphicFramePr>
        <p:xfrm>
          <a:off x="548640" y="1508760"/>
          <a:ext cx="11064240" cy="452628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3566160"/>
                <a:gridCol w="54864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Área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Para quê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Principais telas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solidFill>
                      <a:srgbClr val="F6FA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Início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Resumo: livre, entrou hoje, já tem destino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Meu dinheiro, ações rápidas, próximos compromissos, atividades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Receber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Registrar ou receber dinheiro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Registrar venda, venda em dinheiro, para onde vai cada venda, vendas, a receber, caixa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Organizar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Decidir para onde vai o próprio dinheiro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Contas, metas, sugestões, renegociar, adicionar/importar, resumo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Compromissos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Acordos com outras pessoas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Filtros, fornecedores e colaboradores, novo compromisso, detalhes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Equipe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Quem trabalha e quanto tem a receber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Turnos de hoje, escala, check-in, pagamentos, comprovantes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Confiança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Histórico de compromissos cumpridos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Comprovantes, baixar/verificar histórico, fornecedor e trabalhador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Mais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O restante, sem poluir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Contatos, notificações, histórico, acessibilidade, configurações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Links da outra parte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Fornecedor e trabalhador participam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Convite (aceitar/recusar), confirmar recebimento, meu turno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úmero 6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5 / 25</a:t>
            </a:r>
            <a:endParaRPr lang="pt-BR" sz="1600"/>
          </a:p>
        </p:txBody>
      </p:sp>
      <p:pic>
        <p:nvPicPr>
          <p:cNvPr id="7" name="Print 7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8" name="Rodapé 8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PLANO DE DEMONSTRAÇÃO · CERCA DE 10 MINUTOS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A história de Maria, João e Pedro</a:t>
            </a:r>
            <a:endParaRPr lang="pt-BR" sz="1600"/>
          </a:p>
        </p:txBody>
      </p:sp>
      <p:sp>
        <p:nvSpPr>
          <p:cNvPr id="5" name="Número do passo 5"/>
          <p:cNvSpPr txBox="1"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1</a:t>
            </a:r>
            <a:endParaRPr lang="pt-BR" sz="1600"/>
          </a:p>
        </p:txBody>
      </p:sp>
      <p:sp>
        <p:nvSpPr>
          <p:cNvPr id="6" name="Texto 6"/>
          <p:cNvSpPr txBox="1"/>
          <p:nvPr/>
        </p:nvSpPr>
        <p:spPr>
          <a:xfrm>
            <a:off x="1143000" y="15727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Início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— quanto está livre hoje (30 s)</a:t>
            </a:r>
            <a:endParaRPr lang="pt-BR" sz="1500"/>
          </a:p>
        </p:txBody>
      </p:sp>
      <p:sp>
        <p:nvSpPr>
          <p:cNvPr id="7" name="Número do passo 7"/>
          <p:cNvSpPr txBox="1"/>
          <p:nvPr/>
        </p:nvSpPr>
        <p:spPr>
          <a:xfrm>
            <a:off x="548640" y="2221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2</a:t>
            </a:r>
            <a:endParaRPr lang="pt-BR" sz="1600"/>
          </a:p>
        </p:txBody>
      </p:sp>
      <p:sp>
        <p:nvSpPr>
          <p:cNvPr id="8" name="Texto 8"/>
          <p:cNvSpPr txBox="1"/>
          <p:nvPr/>
        </p:nvSpPr>
        <p:spPr>
          <a:xfrm>
            <a:off x="1143000" y="22402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Notificações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— o que precisa de atenção (20 s)</a:t>
            </a:r>
            <a:endParaRPr lang="pt-BR" sz="1500"/>
          </a:p>
        </p:txBody>
      </p:sp>
      <p:sp>
        <p:nvSpPr>
          <p:cNvPr id="9" name="Número do passo 9"/>
          <p:cNvSpPr txBox="1"/>
          <p:nvPr/>
        </p:nvSpPr>
        <p:spPr>
          <a:xfrm>
            <a:off x="548640" y="28895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3</a:t>
            </a:r>
            <a:endParaRPr lang="pt-BR" sz="1600"/>
          </a:p>
        </p:txBody>
      </p:sp>
      <p:sp>
        <p:nvSpPr>
          <p:cNvPr id="10" name="Texto 10"/>
          <p:cNvSpPr txBox="1"/>
          <p:nvPr/>
        </p:nvSpPr>
        <p:spPr>
          <a:xfrm>
            <a:off x="1143000" y="290779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Cadastrar fornecedor e criar compromisso (1 min)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/>
            </a:r>
            <a:endParaRPr lang="pt-BR" sz="1500"/>
          </a:p>
        </p:txBody>
      </p:sp>
      <p:sp>
        <p:nvSpPr>
          <p:cNvPr id="11" name="Número do passo 11"/>
          <p:cNvSpPr txBox="1"/>
          <p:nvPr/>
        </p:nvSpPr>
        <p:spPr>
          <a:xfrm>
            <a:off x="548640" y="35570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4</a:t>
            </a:r>
            <a:endParaRPr lang="pt-BR" sz="1600"/>
          </a:p>
        </p:txBody>
      </p:sp>
      <p:sp>
        <p:nvSpPr>
          <p:cNvPr id="12" name="Texto 12"/>
          <p:cNvSpPr txBox="1"/>
          <p:nvPr/>
        </p:nvSpPr>
        <p:spPr>
          <a:xfrm>
            <a:off x="1143000" y="357530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João aceita pelo convite (40 s)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/>
            </a:r>
            <a:endParaRPr lang="pt-BR" sz="1500"/>
          </a:p>
        </p:txBody>
      </p:sp>
      <p:sp>
        <p:nvSpPr>
          <p:cNvPr id="13" name="Número do passo 13"/>
          <p:cNvSpPr txBox="1"/>
          <p:nvPr/>
        </p:nvSpPr>
        <p:spPr>
          <a:xfrm>
            <a:off x="548640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5</a:t>
            </a:r>
            <a:endParaRPr lang="pt-BR" sz="1600"/>
          </a:p>
        </p:txBody>
      </p:sp>
      <p:sp>
        <p:nvSpPr>
          <p:cNvPr id="14" name="Texto 14"/>
          <p:cNvSpPr txBox="1"/>
          <p:nvPr/>
        </p:nvSpPr>
        <p:spPr>
          <a:xfrm>
            <a:off x="1143000" y="4242816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Equipe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— escala, check-in, turno (1 min)</a:t>
            </a:r>
            <a:endParaRPr lang="pt-BR" sz="1500"/>
          </a:p>
        </p:txBody>
      </p:sp>
      <p:sp>
        <p:nvSpPr>
          <p:cNvPr id="15" name="Número do passo 15"/>
          <p:cNvSpPr txBox="1"/>
          <p:nvPr/>
        </p:nvSpPr>
        <p:spPr>
          <a:xfrm>
            <a:off x="548640" y="4892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6</a:t>
            </a:r>
            <a:endParaRPr lang="pt-BR" sz="1600"/>
          </a:p>
        </p:txBody>
      </p:sp>
      <p:sp>
        <p:nvSpPr>
          <p:cNvPr id="16" name="Texto 16"/>
          <p:cNvSpPr txBox="1"/>
          <p:nvPr/>
        </p:nvSpPr>
        <p:spPr>
          <a:xfrm>
            <a:off x="1143000" y="491032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Para onde vai cada venda (40 s)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/>
            </a:r>
            <a:endParaRPr lang="pt-BR" sz="1500"/>
          </a:p>
        </p:txBody>
      </p:sp>
      <p:sp>
        <p:nvSpPr>
          <p:cNvPr id="17" name="Número do passo 17"/>
          <p:cNvSpPr txBox="1"/>
          <p:nvPr/>
        </p:nvSpPr>
        <p:spPr>
          <a:xfrm>
            <a:off x="548640" y="5559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7</a:t>
            </a:r>
            <a:endParaRPr lang="pt-BR" sz="1600"/>
          </a:p>
        </p:txBody>
      </p:sp>
      <p:sp>
        <p:nvSpPr>
          <p:cNvPr id="18" name="Texto 18"/>
          <p:cNvSpPr txBox="1"/>
          <p:nvPr/>
        </p:nvSpPr>
        <p:spPr>
          <a:xfrm>
            <a:off x="1143000" y="55778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Venda em dinheiro e caixa (1 min)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/>
            </a:r>
            <a:endParaRPr lang="pt-BR" sz="1500"/>
          </a:p>
        </p:txBody>
      </p:sp>
      <p:sp>
        <p:nvSpPr>
          <p:cNvPr id="19" name="Número do passo 19"/>
          <p:cNvSpPr txBox="1"/>
          <p:nvPr/>
        </p:nvSpPr>
        <p:spPr>
          <a:xfrm>
            <a:off x="6172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8</a:t>
            </a:r>
            <a:endParaRPr lang="pt-BR" sz="1600"/>
          </a:p>
        </p:txBody>
      </p:sp>
      <p:sp>
        <p:nvSpPr>
          <p:cNvPr id="20" name="Texto 20"/>
          <p:cNvSpPr txBox="1"/>
          <p:nvPr/>
        </p:nvSpPr>
        <p:spPr>
          <a:xfrm>
            <a:off x="6766560" y="15727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Vendas e a receber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— venda ≠ pagamento (30 s)</a:t>
            </a:r>
            <a:endParaRPr lang="pt-BR" sz="1500"/>
          </a:p>
        </p:txBody>
      </p:sp>
      <p:sp>
        <p:nvSpPr>
          <p:cNvPr id="21" name="Número do passo 21"/>
          <p:cNvSpPr txBox="1"/>
          <p:nvPr/>
        </p:nvSpPr>
        <p:spPr>
          <a:xfrm>
            <a:off x="6172200" y="2221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9</a:t>
            </a:r>
            <a:endParaRPr lang="pt-BR" sz="1600"/>
          </a:p>
        </p:txBody>
      </p:sp>
      <p:sp>
        <p:nvSpPr>
          <p:cNvPr id="22" name="Texto 22"/>
          <p:cNvSpPr txBox="1"/>
          <p:nvPr/>
        </p:nvSpPr>
        <p:spPr>
          <a:xfrm>
            <a:off x="6766560" y="22402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Organizar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— contas, metas e sugestão de % (1 min)</a:t>
            </a:r>
            <a:endParaRPr lang="pt-BR" sz="1500"/>
          </a:p>
        </p:txBody>
      </p:sp>
      <p:sp>
        <p:nvSpPr>
          <p:cNvPr id="23" name="Número do passo 23"/>
          <p:cNvSpPr txBox="1"/>
          <p:nvPr/>
        </p:nvSpPr>
        <p:spPr>
          <a:xfrm>
            <a:off x="6172200" y="28895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10</a:t>
            </a:r>
            <a:endParaRPr lang="pt-BR" sz="1600"/>
          </a:p>
        </p:txBody>
      </p:sp>
      <p:sp>
        <p:nvSpPr>
          <p:cNvPr id="24" name="Texto 24"/>
          <p:cNvSpPr txBox="1"/>
          <p:nvPr/>
        </p:nvSpPr>
        <p:spPr>
          <a:xfrm>
            <a:off x="6766560" y="290779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Importar documento com revisão (40 s)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/>
            </a:r>
            <a:endParaRPr lang="pt-BR" sz="1500"/>
          </a:p>
        </p:txBody>
      </p:sp>
      <p:sp>
        <p:nvSpPr>
          <p:cNvPr id="25" name="Número do passo 25"/>
          <p:cNvSpPr txBox="1"/>
          <p:nvPr/>
        </p:nvSpPr>
        <p:spPr>
          <a:xfrm>
            <a:off x="6172200" y="35570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11</a:t>
            </a:r>
            <a:endParaRPr lang="pt-BR" sz="1600"/>
          </a:p>
        </p:txBody>
      </p:sp>
      <p:sp>
        <p:nvSpPr>
          <p:cNvPr id="26" name="Texto 26"/>
          <p:cNvSpPr txBox="1"/>
          <p:nvPr/>
        </p:nvSpPr>
        <p:spPr>
          <a:xfrm>
            <a:off x="6766560" y="357530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Compromissos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— filtros e situação (40 s)</a:t>
            </a:r>
            <a:endParaRPr lang="pt-BR" sz="1500"/>
          </a:p>
        </p:txBody>
      </p:sp>
      <p:sp>
        <p:nvSpPr>
          <p:cNvPr id="27" name="Número do passo 27"/>
          <p:cNvSpPr txBox="1"/>
          <p:nvPr/>
        </p:nvSpPr>
        <p:spPr>
          <a:xfrm>
            <a:off x="6172200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12</a:t>
            </a:r>
            <a:endParaRPr lang="pt-BR" sz="1600"/>
          </a:p>
        </p:txBody>
      </p:sp>
      <p:sp>
        <p:nvSpPr>
          <p:cNvPr id="28" name="Texto 28"/>
          <p:cNvSpPr txBox="1"/>
          <p:nvPr/>
        </p:nvSpPr>
        <p:spPr>
          <a:xfrm>
            <a:off x="6766560" y="4242816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Pagamento confirmado pelas duas partes (40 s)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/>
            </a:r>
            <a:endParaRPr lang="pt-BR" sz="1500"/>
          </a:p>
        </p:txBody>
      </p:sp>
      <p:sp>
        <p:nvSpPr>
          <p:cNvPr id="29" name="Número do passo 29"/>
          <p:cNvSpPr txBox="1"/>
          <p:nvPr/>
        </p:nvSpPr>
        <p:spPr>
          <a:xfrm>
            <a:off x="6172200" y="4892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13</a:t>
            </a:r>
            <a:endParaRPr lang="pt-BR" sz="1600"/>
          </a:p>
        </p:txBody>
      </p:sp>
      <p:sp>
        <p:nvSpPr>
          <p:cNvPr id="30" name="Texto 30"/>
          <p:cNvSpPr txBox="1"/>
          <p:nvPr/>
        </p:nvSpPr>
        <p:spPr>
          <a:xfrm>
            <a:off x="6766560" y="491032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Confiança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— comprovante e histórico verificável (1 min)</a:t>
            </a:r>
            <a:endParaRPr lang="pt-BR" sz="1500"/>
          </a:p>
        </p:txBody>
      </p:sp>
      <p:sp>
        <p:nvSpPr>
          <p:cNvPr id="31" name="Número do passo 31"/>
          <p:cNvSpPr txBox="1"/>
          <p:nvPr/>
        </p:nvSpPr>
        <p:spPr>
          <a:xfrm>
            <a:off x="6172200" y="5559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14</a:t>
            </a:r>
            <a:endParaRPr lang="pt-BR" sz="1600"/>
          </a:p>
        </p:txBody>
      </p:sp>
      <p:sp>
        <p:nvSpPr>
          <p:cNvPr id="32" name="Texto 32"/>
          <p:cNvSpPr txBox="1"/>
          <p:nvPr/>
        </p:nvSpPr>
        <p:spPr>
          <a:xfrm>
            <a:off x="6766560" y="55778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Acessibilidade e celular (30 s)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/>
            </a:r>
            <a:endParaRPr lang="pt-BR" sz="1500"/>
          </a:p>
        </p:txBody>
      </p:sp>
      <p:sp>
        <p:nvSpPr>
          <p:cNvPr id="33" name="Número 33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6 / 25</a:t>
            </a:r>
            <a:endParaRPr lang="pt-BR" sz="1600"/>
          </a:p>
        </p:txBody>
      </p:sp>
      <p:pic>
        <p:nvPicPr>
          <p:cNvPr id="34" name="Print 34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35" name="Rodapé 35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CADASTROS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Como os cadastros funcionam</a:t>
            </a:r>
            <a:endParaRPr lang="pt-BR" sz="1600"/>
          </a:p>
        </p:txBody>
      </p:sp>
      <p:graphicFrame>
        <p:nvGraphicFramePr>
          <p:cNvPr id="5" name="Tabela 5"/>
          <p:cNvGraphicFramePr>
            <a:graphicFrameLocks noGrp="1"/>
          </p:cNvGraphicFramePr>
          <p:nvPr/>
        </p:nvGraphicFramePr>
        <p:xfrm>
          <a:off x="548640" y="1463040"/>
          <a:ext cx="11064240" cy="4608576"/>
        </p:xfrm>
        <a:graphic>
          <a:graphicData uri="http://schemas.openxmlformats.org/drawingml/2006/table">
            <a:tbl>
              <a:tblPr firstRow="1"/>
              <a:tblGrid>
                <a:gridCol w="1828800"/>
                <a:gridCol w="3017520"/>
                <a:gridCol w="3200400"/>
                <a:gridCol w="30175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Cadastro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Onde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O que pede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solidFill>
                      <a:srgbClr val="F6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Regra importante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solidFill>
                      <a:srgbClr val="F6FA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Pessoa / fornecedor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Mais → Fornecedores e contatos, ou dentro do novo compromisso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Nome; tipo, celular e observação opcionais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Dados ficam só no computador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Compromisso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Compromissos → + Novo compromisso (5 etapas)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Com quem → valor → % das vendas → prazo e prioridade → revisar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Só vale depois do aceite da outra parte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Colaborador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Equipe → Cadastrar colaborador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Nome e remuneração: %, valor fixo, diária ou nenhuma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Comissão só com turno ativo; escala e check-in opcionais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Conta / meta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Organizar → Adicionar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Nome, valor, vencimento ou data-meta, repetição, modo de reserva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Regra pessoal: editar, pausar ou excluir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Venda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Receber → Registrar venda / Venda em dinheiro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Valor, meio, data da venda, data do pagamento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Distribui no pagamento, sem passar do que falta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0F1A33"/>
                          </a:solidFill>
                          <a:latin typeface="Calibri"/>
                          <a:cs typeface="Calibri"/>
                        </a:rPr>
                        <a:t xml:space="preserve">Importação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Organizar → Adicionar; Novo compromisso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Arquivo CSV/TXT ou texto colado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solidFill>
                            <a:srgbClr val="4D5A6E"/>
                          </a:solidFill>
                          <a:latin typeface="Calibri"/>
                          <a:cs typeface="Calibri"/>
                        </a:rPr>
                        <a:t xml:space="preserve">Nada é salvo sem revisão</a:t>
                      </a:r>
                    </a:p>
                  </a:txBody>
                  <a:tcPr marL="91440" marR="91440" marT="60960" marB="6096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E8E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úmero 6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7 / 25</a:t>
            </a:r>
            <a:endParaRPr lang="pt-BR" sz="1600"/>
          </a:p>
        </p:txBody>
      </p:sp>
      <p:pic>
        <p:nvPicPr>
          <p:cNvPr id="7" name="Print 7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8" name="Rodapé 8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1 · INÍCIO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1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Quanto é meu hoje?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Livre para usar: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R$ 315,40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Entrou hoje: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R$ 670,00 (abre os pagamentos)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Já tem destino: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R$ 354,60 (toque para detalhar)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Meu dinheiro: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livre, planejado e de terceiros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Ações rápidas e próximo compromisso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“Maria vendeu R$ 670 hoje, mas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R$ 315 são realmente dela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. O resto já tem destino.”</a:t>
            </a:r>
            <a:endParaRPr lang="pt-BR" sz="1500"/>
          </a:p>
        </p:txBody>
      </p:sp>
      <p:pic>
        <p:nvPicPr>
          <p:cNvPr id="8" name="Print 8" descr="Tela Início com saldo livre, entrou hoje, já tem destino e gráfico Meu dinhe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8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2 · NOTIFICAÇÕES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2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O que precisa de atenção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Vencimentos próximos e atrasos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Respostas de convites e confirmações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Previsão: quando o ritmo de vendas não basta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“Marcar todas como lidas” e “Ver todas”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“O GIRO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avisa antes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 do vencimento — não inventa dinheiro nem muda acordos sozinho.”</a:t>
            </a:r>
            <a:endParaRPr lang="pt-BR" sz="1500"/>
          </a:p>
        </p:txBody>
      </p:sp>
      <p:pic>
        <p:nvPicPr>
          <p:cNvPr id="8" name="Print 8" descr="Painel de notificações aber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9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3 · CADASTRO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3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Fornecedor e compromisso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Cadastrar a pessoa (só o nome é obrigatório)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Assistente em 5 etapas: com quem, quanto, % das vendas, prazo e prioridade, revisão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Bloqueia regras acima de 100% das vendas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Ao final, gera um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convite local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para a outra parte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“Maria propõe: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20% das vendas até quitar R$ 600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 com João.”</a:t>
            </a:r>
            <a:endParaRPr lang="pt-BR" sz="1500"/>
          </a:p>
        </p:txBody>
      </p:sp>
      <p:pic>
        <p:nvPicPr>
          <p:cNvPr id="8" name="Print 8" descr="Fornecedores e contatos cadastrad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502920"/>
            <a:ext cx="4389120" cy="27432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pic>
        <p:nvPicPr>
          <p:cNvPr id="9" name="Print 9" descr="Assistente de novo compromiss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29000"/>
            <a:ext cx="4389120" cy="27432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10" name="Número 10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10 / 25</a:t>
            </a:r>
            <a:endParaRPr lang="pt-BR" sz="1600"/>
          </a:p>
        </p:txBody>
      </p:sp>
      <p:pic>
        <p:nvPicPr>
          <p:cNvPr id="11" name="Print 11" descr="GIR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2" name="Rodapé 12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4 · A OUTRA PARTE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4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O fornecedor aceita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O convite mostra só a proposta — nenhum outro dado do negócio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Aceitar ou recusar; a resposta vira notificação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Mudanças futuras são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pedidos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: a outra parte decide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Na demonstração, Ana Embalagens ainda está decidindo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Ninguém altera o acordo sozinho.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 É isso que dá valor ao histórico.”</a:t>
            </a:r>
            <a:endParaRPr lang="pt-BR" sz="1500"/>
          </a:p>
        </p:txBody>
      </p:sp>
      <p:pic>
        <p:nvPicPr>
          <p:cNvPr id="8" name="Print 8" descr="Página do convite vista pelo forneced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11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5 · EQUIPE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5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Turno, escala e check-in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Pedro: 8% enquanto o turno está ativo, sem escolher o nome a cada venda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Escala: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dias de trabalho e “Turnos de hoje”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Check-in: 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o trabalhador toca “Iniciar meu turno” e Maria confirma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Diárias, valor fixo e comprovantes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“Fica registrado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por que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 cada valor foi para cada pessoa.”</a:t>
            </a:r>
            <a:endParaRPr lang="pt-BR" sz="1500"/>
          </a:p>
        </p:txBody>
      </p:sp>
      <p:pic>
        <p:nvPicPr>
          <p:cNvPr id="8" name="Print 8" descr="Equipe com turnos de hoje, escala e link de check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931670"/>
            <a:ext cx="4572000" cy="28575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pic>
        <p:nvPicPr>
          <p:cNvPr id="9" name="Print 9" descr="Celular do trabalhador com o botão Iniciar meu tur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431036"/>
            <a:ext cx="1783080" cy="3858768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10" name="Número 10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12 / 25</a:t>
            </a:r>
            <a:endParaRPr lang="pt-BR" sz="1600"/>
          </a:p>
        </p:txBody>
      </p:sp>
      <p:pic>
        <p:nvPicPr>
          <p:cNvPr id="11" name="Print 11" descr="GIR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2" name="Rodapé 12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6 · RECEBER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6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Para onde vai cada venda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Digite um valor e veja a divisão antes de vender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Usa o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mesmo motor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da venda real, numa simulação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Respeita turnos, acordos aceitos, prioridades e reservas automáticas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Acordo quitado para de receber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“De R$ 100: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R$ 20 João, R$ 8 Pedro, R$ 10 estoque, R$ 62 livres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.”</a:t>
            </a:r>
            <a:endParaRPr lang="pt-BR" sz="1500"/>
          </a:p>
        </p:txBody>
      </p:sp>
      <p:pic>
        <p:nvPicPr>
          <p:cNvPr id="8" name="Print 8" descr="Simulação Para onde vai cada ven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13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7 · DINHEIRO FÍSICO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7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Venda em dinheiro e caixa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Botão grande “Venda em dinheiro”: valor e pronto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O GIRO calcula quanto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separar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para cada um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Caixa: esperado, comprometido e livre em espécie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A dívida só baixa quando a entrega é confirmada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“Blockchain não resolve dinheiro físico —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o GIRO organiza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 e registra a entrega.”</a:t>
            </a:r>
            <a:endParaRPr lang="pt-BR" sz="1500"/>
          </a:p>
        </p:txBody>
      </p:sp>
      <p:pic>
        <p:nvPicPr>
          <p:cNvPr id="8" name="Print 8" descr="Formulário de venda em dinhe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502920"/>
            <a:ext cx="4389120" cy="27432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pic>
        <p:nvPicPr>
          <p:cNvPr id="9" name="Print 9" descr="Caixa em dinhe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29000"/>
            <a:ext cx="4389120" cy="27432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10" name="Número 10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14 / 25</a:t>
            </a:r>
            <a:endParaRPr lang="pt-BR" sz="1600"/>
          </a:p>
        </p:txBody>
      </p:sp>
      <p:pic>
        <p:nvPicPr>
          <p:cNvPr id="11" name="Print 11" descr="GIR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2" name="Rodapé 12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8 · HISTÓRICO DE VENDAS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8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Venda hoje, pagamento depois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Data da venda ≠ data do pagamento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Venda pendente aparece em “A receber”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Quando o cliente paga, a comissão continua com quem vendeu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Comprovante de cada venda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“Pedro vendeu terça, o cliente pagou quinta: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a comissão é do Pedro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.”</a:t>
            </a:r>
            <a:endParaRPr lang="pt-BR" sz="1500"/>
          </a:p>
        </p:txBody>
      </p:sp>
      <p:pic>
        <p:nvPicPr>
          <p:cNvPr id="8" name="Print 8" descr="Histórico de vendas recebidas e penden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15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9 · ORGANIZAR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9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Contas pessoais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Pago, reservado e falta cobrir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Repete: todo mês, a cada 15 dias, toda semana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Pagar com saldo, registrar pagamento, adicionar à reserva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Resumo consolidado de tudo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“Reservar não é pagar: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o GIRO separa os dois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.”</a:t>
            </a:r>
            <a:endParaRPr lang="pt-BR" sz="1500"/>
          </a:p>
        </p:txBody>
      </p:sp>
      <p:pic>
        <p:nvPicPr>
          <p:cNvPr id="8" name="Print 8" descr="Contas com pago, reservado e falta cobr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502920"/>
            <a:ext cx="4389120" cy="27432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pic>
        <p:nvPicPr>
          <p:cNvPr id="9" name="Print 9" descr="Resumo consolid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29000"/>
            <a:ext cx="4389120" cy="27432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10" name="Número 10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16 / 25</a:t>
            </a:r>
            <a:endParaRPr lang="pt-BR" sz="1600"/>
          </a:p>
        </p:txBody>
      </p:sp>
      <p:pic>
        <p:nvPicPr>
          <p:cNvPr id="11" name="Print 11" descr="GIR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2" name="Rodapé 12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9 · METAS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713232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Sugestão que o vendedor aceita</a:t>
            </a:r>
            <a:endParaRPr lang="pt-BR" sz="1600"/>
          </a:p>
        </p:txBody>
      </p:sp>
      <p:sp>
        <p:nvSpPr>
          <p:cNvPr id="5" name="Pontos 5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Meta de estoque com reserva automática de 10%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No ritmo dos últimos 7 dias, seriam ~32,5%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Um toque: “Usar 32,5% nas próximas vendas”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Se nem 100% bastar, ele diz claramente</a:t>
            </a:r>
            <a:endParaRPr lang="pt-BR" sz="1500"/>
          </a:p>
        </p:txBody>
      </p:sp>
      <p:sp>
        <p:nvSpPr>
          <p:cNvPr id="6" name="O que falar 6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“Regra pessoal: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Maria muda quando quiser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. Acordo com João só com aceite dele.”</a:t>
            </a:r>
            <a:endParaRPr lang="pt-BR" sz="1500"/>
          </a:p>
        </p:txBody>
      </p:sp>
      <p:pic>
        <p:nvPicPr>
          <p:cNvPr id="7" name="Print 7" descr="Meta com sugestão de percentu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8" name="Número 8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17 / 25</a:t>
            </a:r>
            <a:endParaRPr lang="pt-BR" sz="1600"/>
          </a:p>
        </p:txBody>
      </p:sp>
      <p:pic>
        <p:nvPicPr>
          <p:cNvPr id="9" name="Print 9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0" name="Rodapé 10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10 · IMPORTAÇÃO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10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Importar documento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CSV, TXT ou texto colado de boleto/PDF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“Foram encontrados 4 itens”: editar, marcar, desmarcar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Detecta contas que se repetem e sugere “todo mês”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Nada é salvo sem revisão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“O GIRO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automatiza a digitação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, não a decisão.”</a:t>
            </a:r>
            <a:endParaRPr lang="pt-BR" sz="1500"/>
          </a:p>
        </p:txBody>
      </p:sp>
      <p:pic>
        <p:nvPicPr>
          <p:cNvPr id="8" name="Print 8" descr="Revisão dos itens encontrados no documen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18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11 · COMPROMISSOS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11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Todos os acordos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Filtros por tipo, situação, proposta e período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Fornecedores e colaboradores separados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Original, pago e saldo restante; selo da proposta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Detalhes: histórico, pedidos de mudança, pagamentos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“Ana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aguardando aceite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, Sol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concluída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, João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parcialmente pago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.”</a:t>
            </a:r>
            <a:endParaRPr lang="pt-BR" sz="1500"/>
          </a:p>
        </p:txBody>
      </p:sp>
      <p:pic>
        <p:nvPicPr>
          <p:cNvPr id="8" name="Print 8" descr="Lista de compromissos com filtr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19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12 · PROVA DO DINHEIRO FÍSICO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12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Confirmado pelas duas partes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Maria registra a entrega em dinheiro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Envia o link: “Você recebeu R$ 94,00?”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João responde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Recebi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ou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Não recebi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, uma vez só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Se não recebeu, Maria é avisada para rever o caixa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“Dinheiro físico ganha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o mesmo nível de verificação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 quando as duas partes confirmam.”</a:t>
            </a:r>
            <a:endParaRPr lang="pt-BR" sz="1500"/>
          </a:p>
        </p:txBody>
      </p:sp>
      <p:pic>
        <p:nvPicPr>
          <p:cNvPr id="8" name="Print 8" descr="Celular do fornecedor confirmando o recebimen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51" y="502920"/>
            <a:ext cx="2640818" cy="57150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20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13 · GIRO CONFIANÇA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13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Histórico que acompanha o vendedor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Fatos, não notas: concluídos, no prazo, parceiros, recorrentes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Cada acordo concluído tem um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código de comprovante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“Baixar meu histórico” (pode ocultar nomes) e imprimir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“Verificar histórico recebido” detecta qualquer alteração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“Hoje a confiança fica na memória de quem conhece você.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No GIRO, ela vai junto.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”</a:t>
            </a:r>
            <a:endParaRPr lang="pt-BR" sz="1500"/>
          </a:p>
        </p:txBody>
      </p:sp>
      <p:pic>
        <p:nvPicPr>
          <p:cNvPr id="8" name="Print 8" descr="Tela Confiança com comprovantes e históri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3020"/>
            <a:ext cx="6583680" cy="411480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21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411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PASSO 14 · PARA TODOS</a:t>
            </a:r>
            <a:endParaRPr lang="pt-BR" sz="1600"/>
          </a:p>
        </p:txBody>
      </p:sp>
      <p:sp>
        <p:nvSpPr>
          <p:cNvPr id="4" name="Número do passo 4"/>
          <p:cNvSpPr txBox="1"/>
          <p:nvPr/>
        </p:nvSpPr>
        <p:spPr>
          <a:xfrm>
            <a:off x="548640" y="786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7A4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Calibri"/>
                <a:cs typeface="Calibri"/>
              </a:rPr>
              <a:t xml:space="preserve">14</a:t>
            </a:r>
            <a:endParaRPr lang="pt-BR" sz="1600"/>
          </a:p>
        </p:txBody>
      </p:sp>
      <p:sp>
        <p:nvSpPr>
          <p:cNvPr id="5" name="Título 5"/>
          <p:cNvSpPr txBox="1"/>
          <p:nvPr/>
        </p:nvSpPr>
        <p:spPr>
          <a:xfrm>
            <a:off x="1188720" y="7132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600" b="1" dirty="0">
                <a:solidFill>
                  <a:srgbClr val="0F1A33"/>
                </a:solidFill>
                <a:latin typeface="Calibri"/>
                <a:cs typeface="Calibri"/>
              </a:rPr>
              <a:t xml:space="preserve">Acessível e no celular</a:t>
            </a:r>
            <a:endParaRPr lang="pt-BR" sz="1600"/>
          </a:p>
        </p:txBody>
      </p:sp>
      <p:sp>
        <p:nvSpPr>
          <p:cNvPr id="6" name="Pontos 6"/>
          <p:cNvSpPr txBox="1"/>
          <p:nvPr/>
        </p:nvSpPr>
        <p:spPr>
          <a:xfrm>
            <a:off x="548640" y="2011680"/>
            <a:ext cx="4206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Tamanho do texto: padrão, grande, muito grande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Alto contraste e reduzir animações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Funciona no celular com barra inferior</a:t>
            </a:r>
            <a:endParaRPr lang="pt-BR" sz="1500"/>
          </a:p>
          <a:p>
            <a:pPr algn="l" marL="285750" indent="-285750">
              <a:spcAft>
                <a:spcPts val="700"/>
              </a:spcAft>
              <a:buClr>
                <a:srgbClr val="0B7A43"/>
              </a:buClr>
              <a:buFont typeface="Arial"/>
              <a:buChar char="•"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Leitor de tela: rótulos, foco visível, títulos em ordem</a:t>
            </a:r>
            <a:endParaRPr lang="pt-BR" sz="1500"/>
          </a:p>
        </p:txBody>
      </p:sp>
      <p:sp>
        <p:nvSpPr>
          <p:cNvPr id="7" name="O que falar 7"/>
          <p:cNvSpPr txBox="1"/>
          <p:nvPr/>
        </p:nvSpPr>
        <p:spPr>
          <a:xfrm>
            <a:off x="548640" y="5074920"/>
            <a:ext cx="4206240" cy="1097280"/>
          </a:xfrm>
          <a:prstGeom prst="roundRect">
            <a:avLst>
              <a:gd name="adj" fmla="val 12000"/>
            </a:avLst>
          </a:prstGeom>
          <a:solidFill>
            <a:srgbClr val="063D29"/>
          </a:solidFill>
          <a:ln>
            <a:noFill/>
          </a:ln>
        </p:spPr>
        <p:txBody>
          <a:bodyPr wrap="square" lIns="182880" tIns="182880" rIns="182880" bIns="18288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“Baixa carga cognitiva — </a:t>
            </a:r>
            <a:r>
              <a:rPr lang="pt-BR" sz="1500" b="1" dirty="0">
                <a:solidFill>
                  <a:srgbClr val="9BE7BF"/>
                </a:solidFill>
                <a:latin typeface="Calibri"/>
                <a:cs typeface="Calibri"/>
              </a:rPr>
              <a:t xml:space="preserve">para qualquer idade</a:t>
            </a:r>
            <a:r>
              <a:rPr lang="pt-BR" sz="1500" dirty="0">
                <a:solidFill>
                  <a:srgbClr val="FFFFFF"/>
                </a:solidFill>
                <a:latin typeface="Calibri"/>
                <a:cs typeface="Calibri"/>
              </a:rPr>
              <a:t xml:space="preserve">.”</a:t>
            </a:r>
            <a:endParaRPr lang="pt-BR" sz="1500"/>
          </a:p>
        </p:txBody>
      </p:sp>
      <p:pic>
        <p:nvPicPr>
          <p:cNvPr id="8" name="Print 8" descr="Página de acessibilid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46032"/>
            <a:ext cx="2606040" cy="1628775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pic>
        <p:nvPicPr>
          <p:cNvPr id="9" name="Print 9" descr="Início no celu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431036"/>
            <a:ext cx="1783080" cy="3858768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pic>
        <p:nvPicPr>
          <p:cNvPr id="10" name="Print 10" descr="Receber no celul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431036"/>
            <a:ext cx="1783080" cy="3858768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  <a:effectLst>
            <a:outerShdw blurRad="190500" dist="63500" dir="5400000" algn="t" rotWithShape="0">
              <a:srgbClr val="0F1A33">
                <a:alpha val="18000"/>
              </a:srgbClr>
            </a:outerShdw>
          </a:effectLst>
        </p:spPr>
      </p:pic>
      <p:sp>
        <p:nvSpPr>
          <p:cNvPr id="11" name="Número 11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22 / 25</a:t>
            </a:r>
            <a:endParaRPr lang="pt-BR" sz="1600"/>
          </a:p>
        </p:txBody>
      </p:sp>
      <p:pic>
        <p:nvPicPr>
          <p:cNvPr id="12" name="Print 12" descr="GIR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3" name="Rodapé 13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TRANSPARÊNCIA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O que já funciona e o que vem depois</a:t>
            </a:r>
            <a:endParaRPr lang="pt-BR" sz="1600"/>
          </a:p>
        </p:txBody>
      </p:sp>
      <p:sp>
        <p:nvSpPr>
          <p:cNvPr id="5" name="Cartão 5"/>
          <p:cNvSpPr txBox="1"/>
          <p:nvPr/>
        </p:nvSpPr>
        <p:spPr>
          <a:xfrm>
            <a:off x="548640" y="160020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E6F6EC"/>
          </a:solidFill>
          <a:ln w="9525">
            <a:solidFill>
              <a:srgbClr val="CFE9DA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Funciona hoje (local)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Motor de distribuição, acordos com aceite, turnos e escala, caixa físico, contas e metas, importação, comprovantes e verificação do histórico.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258 testes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e </a:t>
            </a:r>
            <a:r>
              <a:rPr lang="pt-BR" sz="1500" b="1" dirty="0">
                <a:solidFill>
                  <a:srgbClr val="0F1A33"/>
                </a:solidFill>
                <a:latin typeface="Calibri"/>
                <a:cs typeface="Calibri"/>
              </a:rPr>
              <a:t xml:space="preserve">34 telas</a:t>
            </a: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 verificadas automaticamente.</a:t>
            </a:r>
            <a:endParaRPr lang="pt-BR" sz="1500"/>
          </a:p>
        </p:txBody>
      </p:sp>
      <p:sp>
        <p:nvSpPr>
          <p:cNvPr id="6" name="Cartão 6"/>
          <p:cNvSpPr txBox="1"/>
          <p:nvPr/>
        </p:nvSpPr>
        <p:spPr>
          <a:xfrm>
            <a:off x="4297680" y="160020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FFF1D6"/>
          </a:solidFill>
          <a:ln w="9525">
            <a:solidFill>
              <a:srgbClr val="F3DFB2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Simulado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Pagamento digital e QR, sem dinheiro real. Os links da outra parte abrem neste computador, sem login nem assinatura.</a:t>
            </a:r>
            <a:endParaRPr lang="pt-BR" sz="1500"/>
          </a:p>
        </p:txBody>
      </p:sp>
      <p:sp>
        <p:nvSpPr>
          <p:cNvPr id="7" name="Cartão 7"/>
          <p:cNvSpPr txBox="1"/>
          <p:nvPr/>
        </p:nvSpPr>
        <p:spPr>
          <a:xfrm>
            <a:off x="8046720" y="160020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E6EFFC"/>
          </a:solidFill>
          <a:ln w="9525">
            <a:solidFill>
              <a:srgbClr val="CDDCF6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Próximas etapas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Programa Solana no validador local → prova registrada (attestation) → Solana Pay. Depois: Pix/cartão por parceiro, leitura de PDF/imagem e app. Cada etapa com autorização.</a:t>
            </a:r>
            <a:endParaRPr lang="pt-BR" sz="1500"/>
          </a:p>
        </p:txBody>
      </p:sp>
      <p:sp>
        <p:nvSpPr>
          <p:cNvPr id="8" name="Texto 8"/>
          <p:cNvSpPr txBox="1"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600" dirty="0">
                <a:solidFill>
                  <a:srgbClr val="4D5A6E"/>
                </a:solidFill>
                <a:latin typeface="Calibri"/>
                <a:cs typeface="Calibri"/>
              </a:rPr>
              <a:t xml:space="preserve">Privacidade: na rede iria só o necessário — chave do acordo (hash), valores, situação e código do comprovante. </a:t>
            </a:r>
            <a:r>
              <a:rPr lang="pt-BR" sz="1600" b="1" dirty="0">
                <a:solidFill>
                  <a:srgbClr val="0F1A33"/>
                </a:solidFill>
                <a:latin typeface="Calibri"/>
                <a:cs typeface="Calibri"/>
              </a:rPr>
              <a:t xml:space="preserve">Nenhum nome, telefone ou CPF</a:t>
            </a:r>
            <a:r>
              <a:rPr lang="pt-BR" sz="1600" dirty="0">
                <a:solidFill>
                  <a:srgbClr val="4D5A6E"/>
                </a:solidFill>
                <a:latin typeface="Calibri"/>
                <a:cs typeface="Calibri"/>
              </a:rPr>
              <a:t xml:space="preserve"> (verificado em teste).</a:t>
            </a:r>
            <a:endParaRPr lang="pt-BR" sz="1600"/>
          </a:p>
        </p:txBody>
      </p:sp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23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POR QUE BLOCKCHAIN, E SÓ ONDE FAZ SENTIDO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A planilha de Maria não precisa de blockchain</a:t>
            </a:r>
            <a:endParaRPr lang="pt-BR" sz="1600"/>
          </a:p>
        </p:txBody>
      </p:sp>
      <p:sp>
        <p:nvSpPr>
          <p:cNvPr id="5" name="Texto 5"/>
          <p:cNvSpPr txBox="1"/>
          <p:nvPr/>
        </p:nvSpPr>
        <p:spPr>
          <a:xfrm>
            <a:off x="548640" y="1600200"/>
            <a:ext cx="1106424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800" b="1" dirty="0">
                <a:solidFill>
                  <a:srgbClr val="0F1A33"/>
                </a:solidFill>
                <a:latin typeface="Calibri"/>
                <a:cs typeface="Calibri"/>
              </a:rPr>
              <a:t xml:space="preserve">Ela passa a ter valor quando Maria e João precisam compartilhar </a:t>
            </a:r>
            <a:r>
              <a:rPr lang="pt-BR" sz="2800" b="1" dirty="0">
                <a:solidFill>
                  <a:srgbClr val="0B7A43"/>
                </a:solidFill>
                <a:latin typeface="Calibri"/>
                <a:cs typeface="Calibri"/>
              </a:rPr>
              <a:t xml:space="preserve">uma regra</a:t>
            </a:r>
            <a:r>
              <a:rPr lang="pt-BR" sz="2800" b="1" dirty="0">
                <a:solidFill>
                  <a:srgbClr val="0F1A33"/>
                </a:solidFill>
                <a:latin typeface="Calibri"/>
                <a:cs typeface="Calibri"/>
              </a:rPr>
              <a:t xml:space="preserve"> e </a:t>
            </a:r>
            <a:r>
              <a:rPr lang="pt-BR" sz="2800" b="1" dirty="0">
                <a:solidFill>
                  <a:srgbClr val="0B7A43"/>
                </a:solidFill>
                <a:latin typeface="Calibri"/>
                <a:cs typeface="Calibri"/>
              </a:rPr>
              <a:t xml:space="preserve">uma prova</a:t>
            </a:r>
            <a:r>
              <a:rPr lang="pt-BR" sz="2800" b="1" dirty="0">
                <a:solidFill>
                  <a:srgbClr val="0F1A33"/>
                </a:solidFill>
                <a:latin typeface="Calibri"/>
                <a:cs typeface="Calibri"/>
              </a:rPr>
              <a:t xml:space="preserve"> sem depender da palavra de um deles — nem do próprio GIRO.</a:t>
            </a:r>
            <a:endParaRPr lang="pt-BR" sz="2800"/>
          </a:p>
        </p:txBody>
      </p:sp>
      <p:sp>
        <p:nvSpPr>
          <p:cNvPr id="6" name="Cartão 6"/>
          <p:cNvSpPr txBox="1"/>
          <p:nvPr/>
        </p:nvSpPr>
        <p:spPr>
          <a:xfrm>
            <a:off x="548640" y="384048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Regra compartilhada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Ninguém altera o acordo unilateralmente.</a:t>
            </a:r>
            <a:endParaRPr lang="pt-BR" sz="1500"/>
          </a:p>
        </p:txBody>
      </p:sp>
      <p:sp>
        <p:nvSpPr>
          <p:cNvPr id="7" name="Cartão 7"/>
          <p:cNvSpPr txBox="1"/>
          <p:nvPr/>
        </p:nvSpPr>
        <p:spPr>
          <a:xfrm>
            <a:off x="4297680" y="384048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Execução automática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Cada venda amortiza a dívida numa única transação.</a:t>
            </a:r>
            <a:endParaRPr lang="pt-BR" sz="1500"/>
          </a:p>
        </p:txBody>
      </p:sp>
      <p:sp>
        <p:nvSpPr>
          <p:cNvPr id="8" name="Cartão 8"/>
          <p:cNvSpPr txBox="1"/>
          <p:nvPr/>
        </p:nvSpPr>
        <p:spPr>
          <a:xfrm>
            <a:off x="8046720" y="384048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700" b="1" dirty="0">
                <a:solidFill>
                  <a:srgbClr val="0F1A33"/>
                </a:solidFill>
                <a:latin typeface="Calibri"/>
                <a:cs typeface="Calibri"/>
              </a:rPr>
              <a:t xml:space="preserve">Prova verificável</a:t>
            </a:r>
            <a:endParaRPr lang="pt-BR" sz="1600"/>
          </a:p>
          <a:p>
            <a:pPr algn="l" marL="0" indent="0">
              <a:spcAft>
                <a:spcPts val="400"/>
              </a:spcAft>
              <a:buNone/>
            </a:pPr>
            <a:r>
              <a:rPr lang="pt-BR" sz="1500" dirty="0">
                <a:solidFill>
                  <a:srgbClr val="4D5A6E"/>
                </a:solidFill>
                <a:latin typeface="Calibri"/>
                <a:cs typeface="Calibri"/>
              </a:rPr>
              <a:t xml:space="preserve">Compromisso cumprido vira evidência que pertence ao vendedor.</a:t>
            </a:r>
            <a:endParaRPr lang="pt-BR" sz="1500"/>
          </a:p>
        </p:txBody>
      </p:sp>
      <p:sp>
        <p:nvSpPr>
          <p:cNvPr id="9" name="Número 9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24 / 25</a:t>
            </a:r>
            <a:endParaRPr lang="pt-BR" sz="1600"/>
          </a:p>
        </p:txBody>
      </p:sp>
      <p:pic>
        <p:nvPicPr>
          <p:cNvPr id="10" name="Print 10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1" name="Rodapé 11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6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rint 3" descr="G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2606040" cy="86868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4" name="Texto 4"/>
          <p:cNvSpPr txBox="1"/>
          <p:nvPr/>
        </p:nvSpPr>
        <p:spPr>
          <a:xfrm>
            <a:off x="731520" y="2011680"/>
            <a:ext cx="10698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000" b="1" dirty="0">
                <a:solidFill>
                  <a:srgbClr val="0F1A33"/>
                </a:solidFill>
                <a:latin typeface="Calibri"/>
                <a:cs typeface="Calibri"/>
              </a:rPr>
              <a:t xml:space="preserve">Hoje o pequeno vendedor recebe primeiro e tenta organizar o dinheiro depois. </a:t>
            </a:r>
            <a:r>
              <a:rPr lang="pt-BR" sz="3000" b="1" dirty="0">
                <a:solidFill>
                  <a:srgbClr val="0B7A43"/>
                </a:solidFill>
                <a:latin typeface="Calibri"/>
                <a:cs typeface="Calibri"/>
              </a:rPr>
              <a:t xml:space="preserve">No GIRO, ele define as regras uma vez e cada venda já nasce organizada.</a:t>
            </a:r>
            <a:endParaRPr lang="pt-BR" sz="3000"/>
          </a:p>
        </p:txBody>
      </p:sp>
      <p:sp>
        <p:nvSpPr>
          <p:cNvPr id="5" name="Texto 5"/>
          <p:cNvSpPr txBox="1"/>
          <p:nvPr/>
        </p:nvSpPr>
        <p:spPr>
          <a:xfrm>
            <a:off x="731520" y="434340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2200" dirty="0">
                <a:solidFill>
                  <a:srgbClr val="0F1A33"/>
                </a:solidFill>
                <a:latin typeface="Calibri"/>
                <a:cs typeface="Calibri"/>
              </a:rPr>
              <a:t xml:space="preserve">Cada compromisso cumprido ajuda a construir um histórico verificável que acompanha o vendedor para a próxima negociação.</a:t>
            </a:r>
            <a:endParaRPr lang="pt-BR"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obretítulo 3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B7A43"/>
                </a:solidFill>
                <a:latin typeface="Calibri"/>
                <a:cs typeface="Calibri"/>
              </a:rPr>
              <a:t xml:space="preserve">NA PRÁTICA</a:t>
            </a:r>
            <a:endParaRPr lang="pt-BR" sz="1600"/>
          </a:p>
        </p:txBody>
      </p:sp>
      <p:sp>
        <p:nvSpPr>
          <p:cNvPr id="4" name="Título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3200" b="1" dirty="0">
                <a:solidFill>
                  <a:srgbClr val="0F1A33"/>
                </a:solidFill>
                <a:latin typeface="Calibri"/>
                <a:cs typeface="Calibri"/>
              </a:rPr>
              <a:t xml:space="preserve">GIRO funcionando na prática</a:t>
            </a:r>
            <a:endParaRPr lang="pt-BR" sz="1600"/>
          </a:p>
        </p:txBody>
      </p:sp>
      <p:sp>
        <p:nvSpPr>
          <p:cNvPr id="5" name="Cartão 5"/>
          <p:cNvSpPr/>
          <p:nvPr/>
        </p:nvSpPr>
        <p:spPr>
          <a:xfrm>
            <a:off x="548640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Número 6"/>
          <p:cNvSpPr txBox="1"/>
          <p:nvPr/>
        </p:nvSpPr>
        <p:spPr>
          <a:xfrm>
            <a:off x="749808" y="1554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3D2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Calibri"/>
                <a:cs typeface="Calibri"/>
              </a:rPr>
              <a:t xml:space="preserve">1</a:t>
            </a:r>
            <a:endParaRPr lang="pt-BR" sz="1600"/>
          </a:p>
        </p:txBody>
      </p:sp>
      <p:sp>
        <p:nvSpPr>
          <p:cNvPr id="7" name="Rótulo 7"/>
          <p:cNvSpPr txBox="1"/>
          <p:nvPr/>
        </p:nvSpPr>
        <p:spPr>
          <a:xfrm>
            <a:off x="1225296" y="15544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Home</a:t>
            </a:r>
            <a:endParaRPr lang="pt-BR" sz="1600"/>
          </a:p>
        </p:txBody>
      </p:sp>
      <p:pic>
        <p:nvPicPr>
          <p:cNvPr id="8" name="Print 8" descr="Início: Livre para usar R$ 72,00, Entrou hoje R$ 100,00, Já tem destino R$ 28,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84211"/>
            <a:ext cx="3063240" cy="2361562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9" name="Legenda 9"/>
          <p:cNvSpPr txBox="1"/>
          <p:nvPr/>
        </p:nvSpPr>
        <p:spPr>
          <a:xfrm>
            <a:off x="731520" y="4736592"/>
            <a:ext cx="3063240" cy="64008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Quanto está realmente livre</a:t>
            </a:r>
            <a:endParaRPr lang="pt-BR" sz="1600"/>
          </a:p>
        </p:txBody>
      </p:sp>
      <p:sp>
        <p:nvSpPr>
          <p:cNvPr id="10" name="Seta 10"/>
          <p:cNvSpPr/>
          <p:nvPr/>
        </p:nvSpPr>
        <p:spPr>
          <a:xfrm>
            <a:off x="4059936" y="3305556"/>
            <a:ext cx="246888" cy="292608"/>
          </a:xfrm>
          <a:prstGeom prst="rightArrow">
            <a:avLst/>
          </a:prstGeom>
          <a:solidFill>
            <a:srgbClr val="F2B53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Cartão 11"/>
          <p:cNvSpPr/>
          <p:nvPr/>
        </p:nvSpPr>
        <p:spPr>
          <a:xfrm>
            <a:off x="4389120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Número 12"/>
          <p:cNvSpPr txBox="1"/>
          <p:nvPr/>
        </p:nvSpPr>
        <p:spPr>
          <a:xfrm>
            <a:off x="4590288" y="1554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3D2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Calibri"/>
                <a:cs typeface="Calibri"/>
              </a:rPr>
              <a:t xml:space="preserve">2</a:t>
            </a:r>
            <a:endParaRPr lang="pt-BR" sz="1600"/>
          </a:p>
        </p:txBody>
      </p:sp>
      <p:sp>
        <p:nvSpPr>
          <p:cNvPr id="13" name="Rótulo 13"/>
          <p:cNvSpPr txBox="1"/>
          <p:nvPr/>
        </p:nvSpPr>
        <p:spPr>
          <a:xfrm>
            <a:off x="5065776" y="15544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Compromisso com João</a:t>
            </a:r>
            <a:endParaRPr lang="pt-BR" sz="1600"/>
          </a:p>
        </p:txBody>
      </p:sp>
      <p:pic>
        <p:nvPicPr>
          <p:cNvPr id="14" name="Print 14" descr="Compromisso com João: valor original R$ 600,00, saldo restante R$ 600,00, vencimento 10/10/2026, ativo e aceito, regra 20% do valor bruto, prioridade al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13" y="2084832"/>
            <a:ext cx="2181013" cy="2560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15" name="Legenda 15"/>
          <p:cNvSpPr txBox="1"/>
          <p:nvPr/>
        </p:nvSpPr>
        <p:spPr>
          <a:xfrm>
            <a:off x="4572000" y="4736592"/>
            <a:ext cx="3063240" cy="64008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Regra aceita entre as partes</a:t>
            </a:r>
            <a:endParaRPr lang="pt-BR" sz="1600"/>
          </a:p>
        </p:txBody>
      </p:sp>
      <p:sp>
        <p:nvSpPr>
          <p:cNvPr id="16" name="Seta 16"/>
          <p:cNvSpPr/>
          <p:nvPr/>
        </p:nvSpPr>
        <p:spPr>
          <a:xfrm>
            <a:off x="7900416" y="3305556"/>
            <a:ext cx="246888" cy="292608"/>
          </a:xfrm>
          <a:prstGeom prst="rightArrow">
            <a:avLst/>
          </a:prstGeom>
          <a:solidFill>
            <a:srgbClr val="F2B53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Cartão 17"/>
          <p:cNvSpPr/>
          <p:nvPr/>
        </p:nvSpPr>
        <p:spPr>
          <a:xfrm>
            <a:off x="8229600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Número 18"/>
          <p:cNvSpPr txBox="1"/>
          <p:nvPr/>
        </p:nvSpPr>
        <p:spPr>
          <a:xfrm>
            <a:off x="8430768" y="1554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3D2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Calibri"/>
                <a:cs typeface="Calibri"/>
              </a:rPr>
              <a:t xml:space="preserve">3</a:t>
            </a:r>
            <a:endParaRPr lang="pt-BR" sz="1600"/>
          </a:p>
        </p:txBody>
      </p:sp>
      <p:sp>
        <p:nvSpPr>
          <p:cNvPr id="19" name="Rótulo 19"/>
          <p:cNvSpPr txBox="1"/>
          <p:nvPr/>
        </p:nvSpPr>
        <p:spPr>
          <a:xfrm>
            <a:off x="8906256" y="15544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Venda + resultado</a:t>
            </a:r>
            <a:endParaRPr lang="pt-BR" sz="1600"/>
          </a:p>
        </p:txBody>
      </p:sp>
      <p:pic>
        <p:nvPicPr>
          <p:cNvPr id="20" name="Print 20" descr="Registro de recebimento de R$ 100,00: Pedro R$ 8,00 (8%), João R$ 20,00 (20%), livre para o titular R$ 72,00; saldo restante do acordo com João R$ 580,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009" y="2084832"/>
            <a:ext cx="2272181" cy="2560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21" name="Legenda 21"/>
          <p:cNvSpPr txBox="1"/>
          <p:nvPr/>
        </p:nvSpPr>
        <p:spPr>
          <a:xfrm>
            <a:off x="8412480" y="4736592"/>
            <a:ext cx="3063240" cy="64008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pt-BR" sz="1500" b="1" dirty="0">
                <a:solidFill>
                  <a:srgbClr val="063D29"/>
                </a:solidFill>
                <a:latin typeface="Calibri"/>
                <a:cs typeface="Calibri"/>
              </a:rPr>
              <a:t xml:space="preserve">Cada venda atualiza automaticamente o acordo</a:t>
            </a:r>
            <a:endParaRPr lang="pt-BR" sz="1600"/>
          </a:p>
        </p:txBody>
      </p:sp>
      <p:sp>
        <p:nvSpPr>
          <p:cNvPr id="22" name="Aviso de ritmo 22"/>
          <p:cNvSpPr txBox="1"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9525">
            <a:solidFill>
              <a:srgbClr val="F3DFB2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600" b="1" dirty="0">
                <a:solidFill>
                  <a:srgbClr val="F2B53A"/>
                </a:solidFill>
                <a:latin typeface="Calibri"/>
                <a:cs typeface="Calibri"/>
              </a:rPr>
              <a:t xml:space="preserve">⚠  </a:t>
            </a:r>
            <a:r>
              <a:rPr lang="pt-BR" sz="1600" dirty="0">
                <a:solidFill>
                  <a:srgbClr val="0F1A33"/>
                </a:solidFill>
                <a:latin typeface="Calibri"/>
                <a:cs typeface="Calibri"/>
              </a:rPr>
              <a:t xml:space="preserve">Se o ritmo das vendas não for suficiente para o prazo, </a:t>
            </a:r>
            <a:r>
              <a:rPr lang="pt-BR" sz="1600" b="1" dirty="0">
                <a:solidFill>
                  <a:srgbClr val="6B4500"/>
                </a:solidFill>
                <a:latin typeface="Calibri"/>
                <a:cs typeface="Calibri"/>
              </a:rPr>
              <a:t xml:space="preserve">o GIRO avisa e permite propor uma renegociação.</a:t>
            </a:r>
            <a:endParaRPr lang="pt-BR" sz="1600"/>
          </a:p>
        </p:txBody>
      </p:sp>
      <p:sp>
        <p:nvSpPr>
          <p:cNvPr id="23" name="Número 23"/>
          <p:cNvSpPr txBox="1"/>
          <p:nvPr/>
        </p:nvSpPr>
        <p:spPr>
          <a:xfrm>
            <a:off x="548640" y="6419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26</a:t>
            </a:r>
            <a:endParaRPr lang="pt-BR" sz="1600"/>
          </a:p>
        </p:txBody>
      </p:sp>
      <p:pic>
        <p:nvPicPr>
          <p:cNvPr id="24" name="Print 24" descr="GIR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6400800"/>
            <a:ext cx="822960" cy="274320"/>
          </a:xfrm>
          <a:prstGeom prst="roundRect">
            <a:avLst>
              <a:gd name="adj" fmla="val 2500"/>
            </a:avLst>
          </a:prstGeom>
          <a:ln w="9525">
            <a:solidFill>
              <a:srgbClr val="E3E8EF"/>
            </a:solidFill>
          </a:ln>
        </p:spPr>
      </p:pic>
      <p:sp>
        <p:nvSpPr>
          <p:cNvPr id="25" name="Rodapé 25"/>
          <p:cNvSpPr txBox="1"/>
          <p:nvPr/>
        </p:nvSpPr>
        <p:spPr>
          <a:xfrm>
            <a:off x="9418320" y="64008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000" dirty="0">
                <a:solidFill>
                  <a:srgbClr val="7A8799"/>
                </a:solidFill>
                <a:latin typeface="Calibri"/>
                <a:cs typeface="Calibri"/>
              </a:rPr>
              <a:t xml:space="preserve">Demonstração local · dados fictícios</a:t>
            </a:r>
            <a:endParaRPr lang="pt-BR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RO">
  <a:themeElements>
    <a:clrScheme name="GIRO">
      <a:dk1>
        <a:srgbClr val="0F1A33"/>
      </a:dk1>
      <a:lt1>
        <a:srgbClr val="FFFFFF"/>
      </a:lt1>
      <a:dk2>
        <a:srgbClr val="063D29"/>
      </a:dk2>
      <a:lt2>
        <a:srgbClr val="E6F6EC"/>
      </a:lt2>
      <a:accent1>
        <a:srgbClr val="0B7A43"/>
      </a:accent1>
      <a:accent2>
        <a:srgbClr val="E06A74"/>
      </a:accent2>
      <a:accent3>
        <a:srgbClr val="8B6BD6"/>
      </a:accent3>
      <a:accent4>
        <a:srgbClr val="5FBF8C"/>
      </a:accent4>
      <a:accent5>
        <a:srgbClr val="1F5FC4"/>
      </a:accent5>
      <a:accent6>
        <a:srgbClr val="DB9400"/>
      </a:accent6>
      <a:hlink>
        <a:srgbClr val="1B5FC0"/>
      </a:hlink>
      <a:folHlink>
        <a:srgbClr val="6D3FB0"/>
      </a:folHlink>
    </a:clrScheme>
    <a:fontScheme name="GI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GI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IRO">
  <a:themeElements>
    <a:clrScheme name="GIRO">
      <a:dk1>
        <a:srgbClr val="0F1A33"/>
      </a:dk1>
      <a:lt1>
        <a:srgbClr val="FFFFFF"/>
      </a:lt1>
      <a:dk2>
        <a:srgbClr val="063D29"/>
      </a:dk2>
      <a:lt2>
        <a:srgbClr val="E6F6EC"/>
      </a:lt2>
      <a:accent1>
        <a:srgbClr val="0B7A43"/>
      </a:accent1>
      <a:accent2>
        <a:srgbClr val="E06A74"/>
      </a:accent2>
      <a:accent3>
        <a:srgbClr val="8B6BD6"/>
      </a:accent3>
      <a:accent4>
        <a:srgbClr val="5FBF8C"/>
      </a:accent4>
      <a:accent5>
        <a:srgbClr val="1F5FC4"/>
      </a:accent5>
      <a:accent6>
        <a:srgbClr val="DB9400"/>
      </a:accent6>
      <a:hlink>
        <a:srgbClr val="1B5FC0"/>
      </a:hlink>
      <a:folHlink>
        <a:srgbClr val="6D3FB0"/>
      </a:folHlink>
    </a:clrScheme>
    <a:fontScheme name="GI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GI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GIRO</Application>
  <Slides>26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GIRO — Demonstração</dc:title>
  <dc:creator>GIRO</dc:creator>
  <dc:language>pt-BR</dc:language>
  <dcterms:created xsi:type="dcterms:W3CDTF">2026-10-03T05:26:53Z</dcterms:created>
  <dcterms:modified xsi:type="dcterms:W3CDTF">2026-10-03T05:26:53Z</dcterms:modified>
</cp:coreProperties>
</file>